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1"/>
  </p:sldMasterIdLst>
  <p:notesMasterIdLst>
    <p:notesMasterId r:id="rId53"/>
  </p:notesMasterIdLst>
  <p:handoutMasterIdLst>
    <p:handoutMasterId r:id="rId54"/>
  </p:handoutMasterIdLst>
  <p:sldIdLst>
    <p:sldId id="257" r:id="rId2"/>
    <p:sldId id="258" r:id="rId3"/>
    <p:sldId id="259" r:id="rId4"/>
    <p:sldId id="260" r:id="rId5"/>
    <p:sldId id="350" r:id="rId6"/>
    <p:sldId id="270" r:id="rId7"/>
    <p:sldId id="351" r:id="rId8"/>
    <p:sldId id="352" r:id="rId9"/>
    <p:sldId id="353" r:id="rId10"/>
    <p:sldId id="354" r:id="rId11"/>
    <p:sldId id="355" r:id="rId12"/>
    <p:sldId id="356" r:id="rId13"/>
    <p:sldId id="887" r:id="rId14"/>
    <p:sldId id="888" r:id="rId15"/>
    <p:sldId id="889" r:id="rId16"/>
    <p:sldId id="908" r:id="rId17"/>
    <p:sldId id="909" r:id="rId18"/>
    <p:sldId id="925" r:id="rId19"/>
    <p:sldId id="911" r:id="rId20"/>
    <p:sldId id="926" r:id="rId21"/>
    <p:sldId id="927" r:id="rId22"/>
    <p:sldId id="928" r:id="rId23"/>
    <p:sldId id="913" r:id="rId24"/>
    <p:sldId id="929" r:id="rId25"/>
    <p:sldId id="930" r:id="rId26"/>
    <p:sldId id="917" r:id="rId27"/>
    <p:sldId id="931" r:id="rId28"/>
    <p:sldId id="932" r:id="rId29"/>
    <p:sldId id="920" r:id="rId30"/>
    <p:sldId id="933" r:id="rId31"/>
    <p:sldId id="934" r:id="rId32"/>
    <p:sldId id="923" r:id="rId33"/>
    <p:sldId id="326" r:id="rId34"/>
    <p:sldId id="891" r:id="rId35"/>
    <p:sldId id="935" r:id="rId36"/>
    <p:sldId id="936" r:id="rId37"/>
    <p:sldId id="937" r:id="rId38"/>
    <p:sldId id="938" r:id="rId39"/>
    <p:sldId id="939" r:id="rId40"/>
    <p:sldId id="327" r:id="rId41"/>
    <p:sldId id="897" r:id="rId42"/>
    <p:sldId id="940" r:id="rId43"/>
    <p:sldId id="275" r:id="rId44"/>
    <p:sldId id="349" r:id="rId45"/>
    <p:sldId id="324" r:id="rId46"/>
    <p:sldId id="325" r:id="rId47"/>
    <p:sldId id="941" r:id="rId48"/>
    <p:sldId id="942" r:id="rId49"/>
    <p:sldId id="943" r:id="rId50"/>
    <p:sldId id="944" r:id="rId51"/>
    <p:sldId id="282" r:id="rId5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iga" initials="a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2C6"/>
    <a:srgbClr val="00A496"/>
    <a:srgbClr val="00C0AE"/>
    <a:srgbClr val="007A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66" autoAdjust="0"/>
    <p:restoredTop sz="76198" autoAdjust="0"/>
  </p:normalViewPr>
  <p:slideViewPr>
    <p:cSldViewPr>
      <p:cViewPr varScale="1">
        <p:scale>
          <a:sx n="94" d="100"/>
          <a:sy n="94" d="100"/>
        </p:scale>
        <p:origin x="1092" y="90"/>
      </p:cViewPr>
      <p:guideLst>
        <p:guide orient="horz" pos="2160"/>
        <p:guide pos="375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3822" y="-72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C87C3E9-2372-4D2D-A8FE-578D26F0CAB8}" type="datetime1">
              <a:rPr lang="ko-KR" altLang="en-US"/>
              <a:pPr lvl="0">
                <a:defRPr/>
              </a:pPr>
              <a:t>2025-04-28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8D2126D6-8CEA-47E8-B467-8C3047BBCAC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1952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05BC3899-2E4F-4D3A-8D29-BF4BDDE21DE2}" type="datetime1">
              <a:rPr lang="ko-KR" altLang="en-US"/>
              <a:pPr lvl="0">
                <a:defRPr/>
              </a:pPr>
              <a:t>2025-04-28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89363BF-43B7-4F43-ABD0-D052F59FCD18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5413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0" y="-1216"/>
            <a:ext cx="9144000" cy="6858000"/>
          </a:xfrm>
          <a:prstGeom prst="rect">
            <a:avLst/>
          </a:prstGeom>
          <a:solidFill>
            <a:srgbClr val="00A49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7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solidFill>
            <a:schemeClr val="lt1"/>
          </a:solidFill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BD5DA9F-B48C-F982-AEDA-929AE6077E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05122" y="1811443"/>
            <a:ext cx="4479112" cy="2967707"/>
          </a:xfrm>
          <a:prstGeom prst="rect">
            <a:avLst/>
          </a:prstGeom>
        </p:spPr>
      </p:pic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사용자 지정 레이아웃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2025-04-28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FBCE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kumimoji="1" lang="ko-KR" altLang="en-US" sz="18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E7562E"/>
          </a:solidFill>
          <a:ln>
            <a:solidFill>
              <a:schemeClr val="accent2"/>
            </a:solidFill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ea typeface="맑은 고딕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279526" y="4726538"/>
            <a:ext cx="2324100" cy="21145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 rot="319573">
            <a:off x="680756" y="4293096"/>
            <a:ext cx="506868" cy="51253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사용자 지정 레이아웃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2025-04-28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kumimoji="1" lang="ko-KR" altLang="en-US" sz="18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00A496"/>
          </a:solidFill>
          <a:ln>
            <a:solidFill>
              <a:srgbClr val="00A496"/>
            </a:solidFill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ea typeface="맑은 고딕"/>
            </a:endParaRPr>
          </a:p>
        </p:txBody>
      </p:sp>
      <p:pic>
        <p:nvPicPr>
          <p:cNvPr id="2" name="그림 1" descr="텍스트, 새이(가) 표시된 사진&#10;&#10;자동 생성된 설명">
            <a:extLst>
              <a:ext uri="{FF2B5EF4-FFF2-40B4-BE49-F238E27FC236}">
                <a16:creationId xmlns:a16="http://schemas.microsoft.com/office/drawing/2014/main" id="{3939A07C-5192-4AE8-BA97-E597A39ACD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72" t="57218" r="8970" b="10660"/>
          <a:stretch/>
        </p:blipFill>
        <p:spPr>
          <a:xfrm>
            <a:off x="6019800" y="3878487"/>
            <a:ext cx="3012301" cy="284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6881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사용자 지정 레이아웃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0" spc="-150" baseline="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A496"/>
                </a:solidFill>
                <a:effectLst/>
                <a:latin typeface="HY견고딕"/>
                <a:ea typeface="HY견고딕"/>
                <a:cs typeface="Tahoma"/>
              </a:rPr>
              <a:t>목차</a:t>
            </a:r>
            <a:endParaRPr kumimoji="0" lang="ko-KR" altLang="en-US" sz="4400" b="0" spc="-150" baseline="0" dirty="0">
              <a:solidFill>
                <a:srgbClr val="00A496"/>
              </a:solidFill>
              <a:latin typeface="HY견고딕"/>
              <a:ea typeface="HY견고딕"/>
              <a:cs typeface="Tahoma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2000" b="1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noFill/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_사용자 지정 레이아웃" preserve="1" userDrawn="1">
  <p:cSld name="1_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0" spc="-150" baseline="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A496"/>
                </a:solidFill>
                <a:effectLst/>
                <a:latin typeface="HY견고딕"/>
                <a:ea typeface="HY견고딕"/>
                <a:cs typeface="Tahoma"/>
              </a:rPr>
              <a:t>학습목표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/>
              <a:buChar char="•"/>
              <a:defRPr sz="2000" b="1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noFill/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 userDrawn="1"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4800" b="1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719572" y="2348880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1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9A5F3A"/>
              </a:solidFill>
            </a:endParaRPr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본문" userDrawn="1">
  <p:cSld name="7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3"/>
          <p:cNvSpPr>
            <a:spLocks noChangeArrowheads="1"/>
          </p:cNvSpPr>
          <p:nvPr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>
              <a:solidFill>
                <a:srgbClr val="005E5C"/>
              </a:solidFill>
              <a:latin typeface="맑은 고딕"/>
              <a:ea typeface="맑은 고딕"/>
              <a:cs typeface="+mj-cs"/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pPr algn="r">
                <a:defRPr/>
              </a:pPr>
              <a:t>‹#›</a:t>
            </a:fld>
            <a:r>
              <a:rPr lang="ko-KR" altLang="en-US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t> </a:t>
            </a:r>
            <a:r>
              <a:rPr lang="en-US" altLang="ko-KR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t>/ 52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288526" y="35744"/>
            <a:ext cx="7785100" cy="474662"/>
          </a:xfrm>
        </p:spPr>
        <p:txBody>
          <a:bodyPr>
            <a:noAutofit/>
          </a:bodyPr>
          <a:lstStyle>
            <a:lvl1pPr algn="l">
              <a:defRPr sz="2000" b="1" spc="-100" baseline="0">
                <a:solidFill>
                  <a:srgbClr val="007A6E"/>
                </a:solidFill>
                <a:effectLst>
                  <a:glow>
                    <a:schemeClr val="tx1"/>
                  </a:glow>
                </a:effectLst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 flipV="1">
            <a:off x="0" y="533399"/>
            <a:ext cx="9144000" cy="45719"/>
          </a:xfrm>
          <a:prstGeom prst="rect">
            <a:avLst/>
          </a:prstGeom>
          <a:solidFill>
            <a:srgbClr val="00A496"/>
          </a:solidFill>
          <a:ln w="22225" algn="ctr">
            <a:noFill/>
            <a:miter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latin typeface="맑은 고딕"/>
              <a:ea typeface="맑은 고딕"/>
              <a:cs typeface="+mj-cs"/>
            </a:endParaRPr>
          </a:p>
        </p:txBody>
      </p:sp>
      <p:sp>
        <p:nvSpPr>
          <p:cNvPr id="10" name="텍스트 개체 틀 2"/>
          <p:cNvSpPr>
            <a:spLocks noGrp="1"/>
          </p:cNvSpPr>
          <p:nvPr>
            <p:ph idx="1" hasCustomPrompt="1"/>
          </p:nvPr>
        </p:nvSpPr>
        <p:spPr>
          <a:xfrm>
            <a:off x="611561" y="774420"/>
            <a:ext cx="8280919" cy="562491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57040" indent="-25704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37361"/>
              </a:buClr>
              <a:buSzPct val="100000"/>
              <a:buFont typeface="한컴바탕"/>
              <a:buChar char="■"/>
              <a:defRPr sz="1800">
                <a:solidFill>
                  <a:srgbClr val="000000"/>
                </a:solidFill>
              </a:defRPr>
            </a:lvl1pPr>
            <a:lvl2pPr marL="685680" indent="-228480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</a:defRPr>
            </a:lvl2pPr>
            <a:lvl3pPr marL="1200150" indent="-285750">
              <a:lnSpc>
                <a:spcPct val="150000"/>
              </a:lnSpc>
              <a:buFont typeface="Wingdings" panose="05000000000000000000" pitchFamily="2" charset="2"/>
              <a:buChar char="ü"/>
              <a:defRPr sz="1400">
                <a:solidFill>
                  <a:srgbClr val="000000"/>
                </a:solidFill>
              </a:defRPr>
            </a:lvl3pPr>
          </a:lstStyle>
          <a:p>
            <a:pPr lvl="0">
              <a:defRPr/>
            </a:pPr>
            <a:r>
              <a:rPr lang="ko-KR" altLang="en-US" dirty="0"/>
              <a:t> 마스터 텍스트 스타일을 편집합니다</a:t>
            </a:r>
          </a:p>
          <a:p>
            <a:pPr lvl="1">
              <a:defRPr/>
            </a:pPr>
            <a:r>
              <a:rPr lang="ko-KR" altLang="en-US" dirty="0"/>
              <a:t> 둘째 수준</a:t>
            </a:r>
          </a:p>
          <a:p>
            <a:pPr lvl="2">
              <a:defRPr/>
            </a:pPr>
            <a:r>
              <a:rPr lang="ko-KR" altLang="en-US" dirty="0"/>
              <a:t>셋째 수준</a:t>
            </a:r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A496"/>
              </a:buClr>
              <a:buFont typeface="Wingdings" pitchFamily="2" charset="2"/>
              <a:buChar char="n"/>
              <a:defRPr sz="18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400"/>
            </a:lvl3pPr>
            <a:lvl4pPr marL="809625" indent="-180975">
              <a:spcAft>
                <a:spcPts val="300"/>
              </a:spcAft>
              <a:buSzPct val="96000"/>
              <a:defRPr sz="12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12327502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본문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440"/>
          <p:cNvSpPr>
            <a:spLocks noChangeArrowheads="1"/>
          </p:cNvSpPr>
          <p:nvPr/>
        </p:nvSpPr>
        <p:spPr bwMode="invGray">
          <a:xfrm>
            <a:off x="0" y="548506"/>
            <a:ext cx="9162510" cy="45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</a:pPr>
            <a:endParaRPr lang="ko-KR" altLang="en-US" sz="3200" dirty="0">
              <a:solidFill>
                <a:srgbClr val="481C1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43"/>
          <p:cNvSpPr>
            <a:spLocks noChangeArrowheads="1"/>
          </p:cNvSpPr>
          <p:nvPr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 dirty="0">
              <a:solidFill>
                <a:srgbClr val="005E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 smtClean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ko-KR" altLang="en-US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/ 57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288525" y="35744"/>
            <a:ext cx="7785100" cy="474662"/>
          </a:xfrm>
        </p:spPr>
        <p:txBody>
          <a:bodyPr>
            <a:noAutofit/>
          </a:bodyPr>
          <a:lstStyle>
            <a:lvl1pPr algn="l">
              <a:defRPr sz="2600" b="1" spc="-100" baseline="0">
                <a:solidFill>
                  <a:srgbClr val="C00000"/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288526" y="773705"/>
            <a:ext cx="8603954" cy="5669958"/>
          </a:xfrm>
        </p:spPr>
        <p:txBody>
          <a:bodyPr>
            <a:normAutofit/>
          </a:bodyPr>
          <a:lstStyle>
            <a:lvl1pPr marL="93662" indent="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70000"/>
              <a:buFont typeface="맑은 고딕" panose="020B0503020000020004" pitchFamily="50" charset="-127"/>
              <a:buNone/>
              <a:defRPr sz="2000" b="1"/>
            </a:lvl1pPr>
            <a:lvl2pPr marL="457200" marR="0" indent="0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Tx/>
              <a:buFont typeface="Wingdings" panose="05000000000000000000" pitchFamily="2" charset="2"/>
              <a:buNone/>
              <a:tabLst/>
              <a:defRPr sz="1600"/>
            </a:lvl2pPr>
            <a:lvl3pPr marL="8048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/>
            </a:lvl3pPr>
            <a:lvl4pPr marL="9826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/>
            </a:lvl4pPr>
            <a:lvl5pPr marL="982662" indent="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ko-KR" altLang="en-US" dirty="0"/>
              <a:t>마스터 텍스트 스타일을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marL="627063" marR="0" lvl="1" indent="-169863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  <a:p>
            <a:pPr lvl="4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25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사용자 지정 레이아웃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C:\Users\김현용\Desktop\제호.jpg"/>
          <p:cNvPicPr>
            <a:picLocks noChangeAspect="1" noChangeArrowheads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7160661" y="5645666"/>
            <a:ext cx="1731819" cy="288636"/>
          </a:xfrm>
          <a:prstGeom prst="rect">
            <a:avLst/>
          </a:prstGeom>
          <a:noFill/>
        </p:spPr>
      </p:pic>
      <p:sp>
        <p:nvSpPr>
          <p:cNvPr id="11" name="TextBox 1"/>
          <p:cNvSpPr txBox="1">
            <a:spLocks noChangeArrowheads="1"/>
          </p:cNvSpPr>
          <p:nvPr userDrawn="1"/>
        </p:nvSpPr>
        <p:spPr>
          <a:xfrm>
            <a:off x="1476375" y="2565400"/>
            <a:ext cx="5975945" cy="13093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ko-KR" sz="8000" b="1">
                <a:solidFill>
                  <a:srgbClr val="E7562E"/>
                </a:solidFill>
                <a:latin typeface="Arial Black"/>
                <a:ea typeface="+mn-ea"/>
              </a:rPr>
              <a:t>Thank</a:t>
            </a:r>
            <a:r>
              <a:rPr lang="en-US" altLang="ko-KR" sz="8000" b="1" baseline="0">
                <a:solidFill>
                  <a:srgbClr val="E7562E"/>
                </a:solidFill>
                <a:latin typeface="Arial Black"/>
                <a:ea typeface="+mn-ea"/>
              </a:rPr>
              <a:t> you!</a:t>
            </a:r>
            <a:endParaRPr lang="ko-KR" altLang="en-US" sz="8000" b="1">
              <a:solidFill>
                <a:srgbClr val="E7562E"/>
              </a:solidFill>
              <a:latin typeface="Arial Black"/>
              <a:ea typeface="+mn-ea"/>
            </a:endParaRPr>
          </a:p>
        </p:txBody>
      </p:sp>
      <p:sp>
        <p:nvSpPr>
          <p:cNvPr id="12" name="직사각형 6"/>
          <p:cNvSpPr/>
          <p:nvPr userDrawn="1"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00A4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3" name="직사각형 10"/>
          <p:cNvSpPr/>
          <p:nvPr userDrawn="1"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4" name="TextBox 6"/>
          <p:cNvSpPr txBox="1">
            <a:spLocks noChangeArrowheads="1"/>
          </p:cNvSpPr>
          <p:nvPr userDrawn="1"/>
        </p:nvSpPr>
        <p:spPr>
          <a:xfrm>
            <a:off x="3147060" y="6309320"/>
            <a:ext cx="2687954" cy="430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ko-KR" sz="1100" b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Copyright© 2023 Hanbit Academy, Inc.</a:t>
            </a:r>
          </a:p>
          <a:p>
            <a:pPr algn="ctr" eaLnBrk="1" hangingPunct="1">
              <a:defRPr/>
            </a:pPr>
            <a:r>
              <a:rPr lang="en-US" altLang="ko-KR" sz="1100" b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All rights reserved.</a:t>
            </a:r>
            <a:endParaRPr lang="ko-KR" altLang="ko-KR" sz="1100" b="0">
              <a:solidFill>
                <a:schemeClr val="tx1"/>
              </a:solidFill>
              <a:latin typeface="+mn-ea"/>
              <a:ea typeface="+mn-ea"/>
              <a:cs typeface="Times New Roman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228600" y="931818"/>
            <a:ext cx="8686800" cy="5715000"/>
          </a:xfrm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100"/>
              </a:spcAft>
              <a:buClr>
                <a:srgbClr val="5A8DDC"/>
              </a:buClr>
              <a:buSzTx/>
              <a:buFont typeface="Wingdings" pitchFamily="2" charset="2"/>
              <a:buChar char="v"/>
              <a:tabLst/>
              <a:defRPr sz="2200"/>
            </a:lvl1pPr>
            <a:lvl2pPr marL="539750" marR="0" indent="-182563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B1AE6B"/>
              </a:buClr>
              <a:buSzTx/>
              <a:buFont typeface="Wingdings" pitchFamily="2" charset="2"/>
              <a:buChar char="§"/>
              <a:tabLst/>
              <a:defRPr sz="1800"/>
            </a:lvl2pPr>
            <a:lvl3pPr marL="720725" marR="0" indent="-185738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ADB9AD"/>
              </a:buClr>
              <a:buSzTx/>
              <a:buFontTx/>
              <a:buChar char="•"/>
              <a:tabLst/>
              <a:defRPr sz="1600"/>
            </a:lvl3pPr>
            <a:lvl4pPr marL="898525" indent="-177800">
              <a:buClr>
                <a:schemeClr val="bg1">
                  <a:lumMod val="50000"/>
                </a:schemeClr>
              </a:buClr>
              <a:buSzPct val="90000"/>
              <a:buFont typeface="Arial" panose="020B0604020202020204" pitchFamily="34" charset="0"/>
              <a:buChar char="−"/>
              <a:tabLst>
                <a:tab pos="898525" algn="l"/>
              </a:tabLst>
              <a:defRPr sz="1400" b="0">
                <a:latin typeface="맑은 고딕" pitchFamily="50" charset="-127"/>
                <a:ea typeface="맑은 고딕" pitchFamily="50" charset="-127"/>
              </a:defRPr>
            </a:lvl4pPr>
            <a:lvl5pPr>
              <a:defRPr sz="1200"/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6393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ch01_JAVA 들여다보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2025-04-28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84" r:id="rId3"/>
    <p:sldLayoutId id="2147483737" r:id="rId4"/>
    <p:sldLayoutId id="2147483738" r:id="rId5"/>
    <p:sldLayoutId id="2147483739" r:id="rId6"/>
    <p:sldLayoutId id="2147483740" r:id="rId7"/>
    <p:sldLayoutId id="2147483785" r:id="rId8"/>
    <p:sldLayoutId id="2147483741" r:id="rId9"/>
    <p:sldLayoutId id="2147483742" r:id="rId10"/>
    <p:sldLayoutId id="2147483786" r:id="rId11"/>
  </p:sldLayoutIdLst>
  <p:transition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맑은 고딕"/>
          <a:ea typeface="맑은 고딕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맑은 고딕"/>
          <a:ea typeface="맑은 고딕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맑은 고딕"/>
          <a:ea typeface="맑은 고딕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맑은 고딕"/>
          <a:ea typeface="맑은 고딕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맑은 고딕"/>
          <a:ea typeface="맑은 고딕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맑은 고딕"/>
          <a:ea typeface="맑은 고딕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AE37D05-C5F3-E59C-B391-B391259DE0C2}"/>
              </a:ext>
            </a:extLst>
          </p:cNvPr>
          <p:cNvSpPr/>
          <p:nvPr/>
        </p:nvSpPr>
        <p:spPr bwMode="auto">
          <a:xfrm>
            <a:off x="4514115" y="836712"/>
            <a:ext cx="4296369" cy="2862322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indent="0" algn="r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latin typeface="+mj-ea"/>
                <a:ea typeface="+mj-ea"/>
              </a:rPr>
              <a:t>Chapter 03</a:t>
            </a:r>
            <a:endParaRPr lang="en-US" altLang="ko-KR" sz="4000" b="1" baseline="0" dirty="0">
              <a:latin typeface="+mj-ea"/>
              <a:ea typeface="+mj-ea"/>
            </a:endParaRPr>
          </a:p>
          <a:p>
            <a:pPr algn="r" eaLnBrk="1" latinLnBrk="1" hangingPunct="1">
              <a:defRPr/>
            </a:pPr>
            <a:r>
              <a:rPr kumimoji="1" lang="ko-KR" altLang="en-US" sz="4000" b="1" spc="-150" dirty="0" err="1">
                <a:latin typeface="+mj-ea"/>
                <a:ea typeface="+mj-ea"/>
              </a:rPr>
              <a:t>디렉티브</a:t>
            </a:r>
            <a:r>
              <a:rPr kumimoji="1" lang="ko-KR" altLang="en-US" sz="4000" b="1" kern="1200" spc="-150" dirty="0">
                <a:latin typeface="+mj-ea"/>
                <a:ea typeface="+mj-ea"/>
              </a:rPr>
              <a:t> </a:t>
            </a:r>
            <a:r>
              <a:rPr kumimoji="1" lang="ko-KR" altLang="en-US" sz="4000" b="1" spc="-150" dirty="0">
                <a:latin typeface="+mj-ea"/>
                <a:ea typeface="+mj-ea"/>
              </a:rPr>
              <a:t>태그</a:t>
            </a:r>
            <a:r>
              <a:rPr kumimoji="1" lang="en-US" altLang="ko-KR" sz="4000" b="1" spc="-150" dirty="0">
                <a:latin typeface="+mj-ea"/>
                <a:ea typeface="+mj-ea"/>
              </a:rPr>
              <a:t>:</a:t>
            </a:r>
          </a:p>
          <a:p>
            <a:pPr algn="r" eaLnBrk="1" latinLnBrk="1" hangingPunct="1">
              <a:defRPr/>
            </a:pPr>
            <a:r>
              <a:rPr kumimoji="1" lang="ko-KR" altLang="en-US" sz="4000" b="1" kern="1200" spc="-150" dirty="0">
                <a:latin typeface="+mj-ea"/>
                <a:ea typeface="+mj-ea"/>
              </a:rPr>
              <a:t>한글 출력 및</a:t>
            </a:r>
            <a:endParaRPr kumimoji="1" lang="en-US" altLang="ko-KR" sz="4000" b="1" kern="1200" spc="-150" dirty="0">
              <a:latin typeface="+mj-ea"/>
              <a:ea typeface="+mj-ea"/>
            </a:endParaRPr>
          </a:p>
          <a:p>
            <a:pPr algn="r" eaLnBrk="1" latinLnBrk="1" hangingPunct="1">
              <a:defRPr/>
            </a:pPr>
            <a:r>
              <a:rPr kumimoji="1" lang="ko-KR" altLang="en-US" sz="4000" b="1" spc="-150" dirty="0">
                <a:latin typeface="+mj-ea"/>
                <a:ea typeface="+mj-ea"/>
              </a:rPr>
              <a:t>페이지 </a:t>
            </a:r>
            <a:r>
              <a:rPr kumimoji="1" lang="ko-KR" altLang="en-US" sz="4000" b="1" spc="-150" dirty="0" err="1">
                <a:latin typeface="+mj-ea"/>
                <a:ea typeface="+mj-ea"/>
              </a:rPr>
              <a:t>모듈화하기</a:t>
            </a:r>
            <a:endParaRPr kumimoji="1" lang="en-US" altLang="ko-KR" sz="4000" b="1" kern="1200" spc="-1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87468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ko-KR" altLang="en-US" sz="2400" b="1" spc="-150" dirty="0" err="1">
                <a:latin typeface="맑은 고딕"/>
              </a:rPr>
              <a:t>디렉티브</a:t>
            </a:r>
            <a:r>
              <a:rPr lang="ko-KR" altLang="en-US" sz="2400" b="1" spc="-150" dirty="0">
                <a:latin typeface="맑은 고딕"/>
              </a:rPr>
              <a:t> 태그의 개요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>
                <a:latin typeface="맑은 고딕"/>
              </a:rPr>
              <a:t>page </a:t>
            </a:r>
            <a:r>
              <a:rPr lang="ko-KR" altLang="en-US" sz="2400" b="1" spc="-150" dirty="0" err="1">
                <a:latin typeface="맑은 고딕"/>
              </a:rPr>
              <a:t>디렉티브</a:t>
            </a:r>
            <a:r>
              <a:rPr lang="ko-KR" altLang="en-US" sz="2400" b="1" spc="-150" dirty="0">
                <a:latin typeface="맑은 고딕"/>
              </a:rPr>
              <a:t> 태그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>
                <a:latin typeface="맑은 고딕"/>
              </a:rPr>
              <a:t>include </a:t>
            </a:r>
            <a:r>
              <a:rPr lang="ko-KR" altLang="en-US" sz="2400" b="1" spc="-150" dirty="0" err="1">
                <a:latin typeface="맑은 고딕"/>
              </a:rPr>
              <a:t>디렉티브</a:t>
            </a:r>
            <a:r>
              <a:rPr lang="ko-KR" altLang="en-US" sz="2400" b="1" spc="-150" dirty="0">
                <a:latin typeface="맑은 고딕"/>
              </a:rPr>
              <a:t> 태그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 err="1">
                <a:latin typeface="맑은 고딕"/>
              </a:rPr>
              <a:t>taglib</a:t>
            </a:r>
            <a:r>
              <a:rPr lang="en-US" altLang="ko-KR" sz="2400" b="1" spc="-150" dirty="0">
                <a:latin typeface="맑은 고딕"/>
              </a:rPr>
              <a:t> </a:t>
            </a:r>
            <a:r>
              <a:rPr lang="ko-KR" altLang="en-US" sz="2400" b="1" spc="-150" dirty="0" err="1">
                <a:latin typeface="맑은 고딕"/>
              </a:rPr>
              <a:t>디렉티브</a:t>
            </a:r>
            <a:r>
              <a:rPr lang="ko-KR" altLang="en-US" sz="2400" b="1" spc="-150" dirty="0">
                <a:latin typeface="맑은 고딕"/>
              </a:rPr>
              <a:t> 태그</a:t>
            </a:r>
            <a:endParaRPr lang="en-US" altLang="ko-KR" sz="2400" b="1" spc="-150" dirty="0">
              <a:latin typeface="맑은 고딕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>
                <a:latin typeface="맑은 고딕"/>
              </a:rPr>
              <a:t>[</a:t>
            </a:r>
            <a:r>
              <a:rPr lang="ko-KR" altLang="en-US" sz="2400" b="1" spc="-150" dirty="0" err="1">
                <a:latin typeface="맑은 고딕"/>
              </a:rPr>
              <a:t>북마켓</a:t>
            </a:r>
            <a:r>
              <a:rPr lang="en-US" altLang="ko-KR" sz="2400" b="1" spc="-150" dirty="0">
                <a:latin typeface="맑은 고딕"/>
              </a:rPr>
              <a:t>]</a:t>
            </a:r>
            <a:r>
              <a:rPr lang="ko-KR" altLang="en-US" sz="2400" b="1" spc="-150" dirty="0">
                <a:latin typeface="맑은 고딕"/>
              </a:rPr>
              <a:t> 한글 출력 및 페이지 </a:t>
            </a:r>
            <a:r>
              <a:rPr lang="ko-KR" altLang="en-US" sz="2400" b="1" spc="-150" dirty="0" err="1">
                <a:latin typeface="맑은 고딕"/>
              </a:rPr>
              <a:t>모듈화하기</a:t>
            </a:r>
            <a:endParaRPr lang="ko-KR" altLang="ko-KR" sz="2400" b="1" spc="-150" dirty="0"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 err="1"/>
              <a:t>디렉티브</a:t>
            </a:r>
            <a:r>
              <a:rPr lang="ko-KR" altLang="en-US" dirty="0"/>
              <a:t> 태그의 개념과 특징을 이해합니다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ko-KR" altLang="en-US" dirty="0" err="1"/>
              <a:t>디렉티브</a:t>
            </a:r>
            <a:r>
              <a:rPr lang="ko-KR" altLang="en-US" dirty="0"/>
              <a:t> 태그 구성 요소의 사용법을 익힙니다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ko-KR" altLang="en-US" dirty="0" err="1"/>
              <a:t>디렉티브</a:t>
            </a:r>
            <a:r>
              <a:rPr lang="ko-KR" altLang="en-US" dirty="0"/>
              <a:t> 태그를 이용하여 </a:t>
            </a:r>
            <a:r>
              <a:rPr lang="ko-KR" altLang="en-US" dirty="0" err="1"/>
              <a:t>북마켓</a:t>
            </a:r>
            <a:r>
              <a:rPr lang="ko-KR" altLang="en-US" dirty="0"/>
              <a:t> 페이지에 한글을 출력하고 페이지를 </a:t>
            </a:r>
            <a:r>
              <a:rPr lang="ko-KR" altLang="en-US" dirty="0" err="1"/>
              <a:t>모듈화합니다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디렉티브</a:t>
            </a:r>
            <a:r>
              <a:rPr lang="ko-KR" altLang="en-US" dirty="0"/>
              <a:t> 태그의 개요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/>
              <a:t>Section 01</a:t>
            </a:r>
            <a:endParaRPr lang="ko-KR" altLang="en-US" u="sn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7BB07-6936-873B-7AFE-312717B81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디렉티브</a:t>
            </a:r>
            <a:r>
              <a:rPr lang="ko-KR" altLang="en-US" dirty="0"/>
              <a:t> 태그의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2C77F8-088F-BEA8-170F-B19BA4A4B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디렉티브</a:t>
            </a:r>
            <a:r>
              <a:rPr lang="ko-KR" altLang="en-US" dirty="0"/>
              <a:t> 태그</a:t>
            </a:r>
            <a:r>
              <a:rPr lang="en-US" altLang="ko-KR" dirty="0"/>
              <a:t>(directive tag)</a:t>
            </a:r>
            <a:endParaRPr lang="ko-KR" altLang="en-US" dirty="0"/>
          </a:p>
          <a:p>
            <a:pPr lvl="1"/>
            <a:r>
              <a:rPr lang="en-US" altLang="ko-KR" dirty="0"/>
              <a:t>JSP </a:t>
            </a:r>
            <a:r>
              <a:rPr lang="ko-KR" altLang="en-US" dirty="0"/>
              <a:t>페이지를 어떻게 처리할 것인지를 설정하는 태그</a:t>
            </a:r>
          </a:p>
          <a:p>
            <a:pPr lvl="1"/>
            <a:r>
              <a:rPr lang="en-US" altLang="ko-KR" dirty="0"/>
              <a:t>JSP </a:t>
            </a:r>
            <a:r>
              <a:rPr lang="ko-KR" altLang="en-US" dirty="0"/>
              <a:t>페이지가 </a:t>
            </a:r>
            <a:r>
              <a:rPr lang="ko-KR" altLang="en-US" dirty="0" err="1"/>
              <a:t>서블릿</a:t>
            </a:r>
            <a:r>
              <a:rPr lang="ko-KR" altLang="en-US" dirty="0"/>
              <a:t> 프로그램에서 </a:t>
            </a:r>
            <a:r>
              <a:rPr lang="ko-KR" altLang="en-US" dirty="0" err="1"/>
              <a:t>서블릿</a:t>
            </a:r>
            <a:r>
              <a:rPr lang="ko-KR" altLang="en-US" dirty="0"/>
              <a:t> 클래스로 변환할 때 </a:t>
            </a:r>
            <a:br>
              <a:rPr lang="en-US" altLang="ko-KR" dirty="0"/>
            </a:br>
            <a:r>
              <a:rPr lang="en-US" altLang="ko-KR" dirty="0"/>
              <a:t>JSP </a:t>
            </a:r>
            <a:r>
              <a:rPr lang="ko-KR" altLang="en-US" dirty="0"/>
              <a:t>페이지와 관련된 정보를 </a:t>
            </a:r>
            <a:r>
              <a:rPr lang="en-US" altLang="ko-KR" dirty="0"/>
              <a:t>JSP</a:t>
            </a:r>
            <a:r>
              <a:rPr lang="ko-KR" altLang="en-US" dirty="0"/>
              <a:t>컨테이너에 지시하는 메시지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1B3343A-BC49-97F5-8426-273B6F15D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605941"/>
            <a:ext cx="7239000" cy="172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99631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page </a:t>
            </a:r>
            <a:r>
              <a:rPr lang="ko-KR" altLang="en-US" dirty="0" err="1"/>
              <a:t>디렉티브</a:t>
            </a:r>
            <a:r>
              <a:rPr lang="ko-KR" altLang="en-US" dirty="0"/>
              <a:t> 태그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/>
              <a:t>Section 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182D1-6E22-16AC-EE9F-290B8594B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page </a:t>
            </a:r>
            <a:r>
              <a:rPr lang="ko-KR" altLang="en-US" dirty="0" err="1"/>
              <a:t>디렉티브</a:t>
            </a:r>
            <a:r>
              <a:rPr lang="ko-KR" altLang="en-US" dirty="0"/>
              <a:t> 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79E6A9-1DA9-8C8D-88F1-AD20CAE98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page </a:t>
            </a:r>
            <a:r>
              <a:rPr lang="ko-KR" altLang="en-US" dirty="0" err="1"/>
              <a:t>디렉티브</a:t>
            </a:r>
            <a:r>
              <a:rPr lang="ko-KR" altLang="en-US" dirty="0"/>
              <a:t> 태그</a:t>
            </a:r>
          </a:p>
          <a:p>
            <a:pPr lvl="1"/>
            <a:r>
              <a:rPr lang="ko-KR" altLang="en-US" dirty="0"/>
              <a:t>현재 </a:t>
            </a:r>
            <a:r>
              <a:rPr lang="en-US" altLang="ko-KR" dirty="0"/>
              <a:t>JSP </a:t>
            </a:r>
            <a:r>
              <a:rPr lang="ko-KR" altLang="en-US" dirty="0"/>
              <a:t>페이지에 대한 정보를 설정하는 태그</a:t>
            </a:r>
          </a:p>
          <a:p>
            <a:pPr lvl="1"/>
            <a:r>
              <a:rPr lang="en-US" altLang="ko-KR" dirty="0"/>
              <a:t>JSP </a:t>
            </a:r>
            <a:r>
              <a:rPr lang="ko-KR" altLang="en-US" dirty="0"/>
              <a:t>페이지의 </a:t>
            </a:r>
            <a:r>
              <a:rPr lang="ko-KR" altLang="en-US" dirty="0" err="1"/>
              <a:t>어디에서든</a:t>
            </a:r>
            <a:r>
              <a:rPr lang="ko-KR" altLang="en-US" dirty="0"/>
              <a:t> 선언할 수 있지만 일반적으로 </a:t>
            </a:r>
            <a:r>
              <a:rPr lang="en-US" altLang="ko-KR" dirty="0"/>
              <a:t>JSP </a:t>
            </a:r>
            <a:r>
              <a:rPr lang="ko-KR" altLang="en-US" dirty="0"/>
              <a:t>페이지의 최상단에 선언하는 것을 권장함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6B1D42A-AE08-FDB3-92D8-60B72B1DC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73" y="2483895"/>
            <a:ext cx="6596653" cy="71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4658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182D1-6E22-16AC-EE9F-290B8594B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page </a:t>
            </a:r>
            <a:r>
              <a:rPr lang="ko-KR" altLang="en-US" dirty="0" err="1"/>
              <a:t>디렉티브</a:t>
            </a:r>
            <a:r>
              <a:rPr lang="ko-KR" altLang="en-US" dirty="0"/>
              <a:t> 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79E6A9-1DA9-8C8D-88F1-AD20CAE98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page </a:t>
            </a:r>
            <a:r>
              <a:rPr lang="ko-KR" altLang="en-US" dirty="0" err="1"/>
              <a:t>디렉티브</a:t>
            </a:r>
            <a:r>
              <a:rPr lang="ko-KR" altLang="en-US" dirty="0"/>
              <a:t> 태그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6B1D42A-AE08-FDB3-92D8-60B72B1DC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73" y="2483895"/>
            <a:ext cx="6596653" cy="71634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E370592-F422-9BE7-7A87-567A646E6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82" y="1313025"/>
            <a:ext cx="7273636" cy="499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70808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182D1-6E22-16AC-EE9F-290B8594B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language </a:t>
            </a:r>
            <a:r>
              <a:rPr lang="ko-KR" altLang="en-US" dirty="0"/>
              <a:t>속성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79E6A9-1DA9-8C8D-88F1-AD20CAE98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language </a:t>
            </a:r>
            <a:r>
              <a:rPr lang="ko-KR" altLang="en-US" dirty="0"/>
              <a:t>속성 </a:t>
            </a:r>
            <a:endParaRPr lang="en-US" altLang="ko-KR" dirty="0"/>
          </a:p>
          <a:p>
            <a:pPr lvl="1"/>
            <a:r>
              <a:rPr lang="en-US" altLang="ko-KR" dirty="0"/>
              <a:t>JSP </a:t>
            </a:r>
            <a:r>
              <a:rPr lang="ko-KR" altLang="en-US" dirty="0"/>
              <a:t>페이지에서 사용할 프로그래밍 언어를 설정하는 데 사용함</a:t>
            </a:r>
            <a:endParaRPr lang="en-US" altLang="ko-KR" dirty="0"/>
          </a:p>
          <a:p>
            <a:pPr lvl="1"/>
            <a:r>
              <a:rPr lang="ko-KR" altLang="en-US" dirty="0"/>
              <a:t>기본값</a:t>
            </a:r>
            <a:r>
              <a:rPr lang="en-US" altLang="ko-KR" dirty="0"/>
              <a:t>: </a:t>
            </a:r>
            <a:r>
              <a:rPr lang="ko-KR" altLang="en-US" dirty="0"/>
              <a:t>자바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6BE5751-9C9D-5681-131B-05845837C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11" y="2033845"/>
            <a:ext cx="7264978" cy="58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79802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182D1-6E22-16AC-EE9F-290B8594B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contentType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79E6A9-1DA9-8C8D-88F1-AD20CAE98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contentType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  <a:endParaRPr lang="en-US" altLang="ko-KR" dirty="0"/>
          </a:p>
          <a:p>
            <a:pPr lvl="1"/>
            <a:r>
              <a:rPr lang="ko-KR" altLang="en-US" dirty="0"/>
              <a:t>현재 </a:t>
            </a:r>
            <a:r>
              <a:rPr lang="en-US" altLang="ko-KR" dirty="0"/>
              <a:t>JSP </a:t>
            </a:r>
            <a:r>
              <a:rPr lang="ko-KR" altLang="en-US" dirty="0"/>
              <a:t>페이지의 콘텐츠 유형</a:t>
            </a:r>
            <a:r>
              <a:rPr lang="en-US" altLang="ko-KR" dirty="0"/>
              <a:t>(MIME-type)</a:t>
            </a:r>
            <a:r>
              <a:rPr lang="ko-KR" altLang="en-US" dirty="0"/>
              <a:t>을 설정하는 데 사용함</a:t>
            </a:r>
          </a:p>
          <a:p>
            <a:pPr lvl="1"/>
            <a:r>
              <a:rPr lang="ko-KR" altLang="en-US" dirty="0"/>
              <a:t>콘텐츠 유형</a:t>
            </a:r>
          </a:p>
          <a:p>
            <a:pPr lvl="2"/>
            <a:r>
              <a:rPr lang="en-US" altLang="ko-KR" dirty="0"/>
              <a:t>text/html, text/xml, text/plain </a:t>
            </a:r>
            <a:r>
              <a:rPr lang="ko-KR" altLang="en-US" dirty="0"/>
              <a:t>등</a:t>
            </a:r>
          </a:p>
          <a:p>
            <a:pPr lvl="2"/>
            <a:r>
              <a:rPr lang="ko-KR" altLang="en-US" dirty="0"/>
              <a:t>기본 값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text/html</a:t>
            </a:r>
          </a:p>
          <a:p>
            <a:r>
              <a:rPr lang="en-US" altLang="ko-KR" dirty="0" err="1"/>
              <a:t>contentType</a:t>
            </a:r>
            <a:r>
              <a:rPr lang="en-US" altLang="ko-KR" dirty="0"/>
              <a:t> </a:t>
            </a:r>
            <a:r>
              <a:rPr lang="ko-KR" altLang="en-US" dirty="0"/>
              <a:t>속성 사용 예</a:t>
            </a:r>
            <a:r>
              <a:rPr lang="en-US" altLang="ko-KR" dirty="0"/>
              <a:t>: text/html </a:t>
            </a:r>
            <a:r>
              <a:rPr lang="ko-KR" altLang="en-US" dirty="0"/>
              <a:t>콘텐츠 유형 설정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contentType</a:t>
            </a:r>
            <a:r>
              <a:rPr lang="en-US" altLang="ko-KR" dirty="0"/>
              <a:t> </a:t>
            </a:r>
            <a:r>
              <a:rPr lang="ko-KR" altLang="en-US" dirty="0"/>
              <a:t>속성 사용 예</a:t>
            </a:r>
            <a:r>
              <a:rPr lang="en-US" altLang="ko-KR" dirty="0"/>
              <a:t>: utf-8 </a:t>
            </a:r>
            <a:r>
              <a:rPr lang="ko-KR" altLang="en-US" dirty="0"/>
              <a:t>문자열 세트 설정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FEA6C81-872F-D39F-3C6C-CBF3C0797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737" y="3161356"/>
            <a:ext cx="6604525" cy="53528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C9438C6-1B35-2A6E-31AF-6C6CF693A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37" y="4528442"/>
            <a:ext cx="6588781" cy="51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11986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182D1-6E22-16AC-EE9F-290B8594B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contentType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79E6A9-1DA9-8C8D-88F1-AD20CAE98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3-1] page </a:t>
            </a:r>
            <a:r>
              <a:rPr lang="ko-KR" altLang="en-US" b="1" dirty="0" err="1">
                <a:solidFill>
                  <a:srgbClr val="0070C0"/>
                </a:solidFill>
              </a:rPr>
              <a:t>디렉티브</a:t>
            </a:r>
            <a:r>
              <a:rPr lang="ko-KR" altLang="en-US" b="1" dirty="0">
                <a:solidFill>
                  <a:srgbClr val="0070C0"/>
                </a:solidFill>
              </a:rPr>
              <a:t> 태그에 콘텐츠 유형을 마이크로소프트 워드 문서로 설정하기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FDA8BAE-2ED0-3842-76B5-319FA5D84C8D}"/>
              </a:ext>
            </a:extLst>
          </p:cNvPr>
          <p:cNvGrpSpPr/>
          <p:nvPr/>
        </p:nvGrpSpPr>
        <p:grpSpPr>
          <a:xfrm>
            <a:off x="1299032" y="1673805"/>
            <a:ext cx="6612396" cy="4770530"/>
            <a:chOff x="1299032" y="1628800"/>
            <a:chExt cx="6612396" cy="477053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185D349-604D-F26D-C310-1AD6BAFF0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6969" y="1628800"/>
              <a:ext cx="6510062" cy="269219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77C85F8-33F9-9CC8-46B3-EC6172622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9032" y="4478586"/>
              <a:ext cx="6612396" cy="19207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018858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182D1-6E22-16AC-EE9F-290B8594B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 err="1"/>
              <a:t>contentType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79E6A9-1DA9-8C8D-88F1-AD20CAE98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3-2] page </a:t>
            </a:r>
            <a:r>
              <a:rPr lang="ko-KR" altLang="en-US" b="1" dirty="0" err="1">
                <a:solidFill>
                  <a:srgbClr val="0070C0"/>
                </a:solidFill>
              </a:rPr>
              <a:t>디렉티브</a:t>
            </a:r>
            <a:r>
              <a:rPr lang="ko-KR" altLang="en-US" b="1" dirty="0">
                <a:solidFill>
                  <a:srgbClr val="0070C0"/>
                </a:solidFill>
              </a:rPr>
              <a:t> 태그에 콘텐츠 유형을 </a:t>
            </a:r>
            <a:r>
              <a:rPr lang="en-US" altLang="ko-KR" b="1" dirty="0">
                <a:solidFill>
                  <a:srgbClr val="0070C0"/>
                </a:solidFill>
              </a:rPr>
              <a:t>XML </a:t>
            </a:r>
            <a:r>
              <a:rPr lang="ko-KR" altLang="en-US" b="1" dirty="0">
                <a:solidFill>
                  <a:srgbClr val="0070C0"/>
                </a:solidFill>
              </a:rPr>
              <a:t>문서로 한글 출력 설정하기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BCD2513-E03A-7038-A374-DF728087B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969" y="1807389"/>
            <a:ext cx="6510062" cy="324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68457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E21A3B2-32E0-4BBF-A3CB-617AA1984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en-US" altLang="ko-KR" dirty="0" err="1"/>
              <a:t>pageEncoding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pageEncoding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  <a:endParaRPr lang="en-US" altLang="ko-KR" dirty="0"/>
          </a:p>
          <a:p>
            <a:pPr lvl="1"/>
            <a:r>
              <a:rPr lang="ko-KR" altLang="en-US" dirty="0"/>
              <a:t>현재 </a:t>
            </a:r>
            <a:r>
              <a:rPr lang="en-US" altLang="ko-KR" dirty="0"/>
              <a:t>JSP </a:t>
            </a:r>
            <a:r>
              <a:rPr lang="ko-KR" altLang="en-US" dirty="0"/>
              <a:t>페이지의 문자 인코딩 유형을 설정하는 데 사용됨</a:t>
            </a:r>
            <a:endParaRPr lang="en-US" altLang="ko-KR" dirty="0"/>
          </a:p>
          <a:p>
            <a:pPr lvl="1"/>
            <a:r>
              <a:rPr lang="ko-KR" altLang="en-US" dirty="0"/>
              <a:t>문자 인코딩 유형의 기본 값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ISO-8859-1</a:t>
            </a:r>
          </a:p>
          <a:p>
            <a:pPr lvl="1"/>
            <a:endParaRPr lang="en-US" altLang="ko-KR" dirty="0"/>
          </a:p>
          <a:p>
            <a:r>
              <a:rPr lang="en-US" altLang="ko-KR" dirty="0" err="1"/>
              <a:t>pageEncoding</a:t>
            </a:r>
            <a:r>
              <a:rPr lang="en-US" altLang="ko-KR" dirty="0"/>
              <a:t> </a:t>
            </a:r>
            <a:r>
              <a:rPr lang="ko-KR" altLang="en-US" dirty="0"/>
              <a:t>속성 사용 예</a:t>
            </a:r>
            <a:r>
              <a:rPr lang="en-US" altLang="ko-KR" dirty="0"/>
              <a:t>: ISO-8859-1 </a:t>
            </a:r>
            <a:r>
              <a:rPr lang="ko-KR" altLang="en-US" dirty="0"/>
              <a:t>문자 인코딩 유형 설정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 rot="5400000">
            <a:off x="4492204" y="351869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38A4A1"/>
                </a:solidFill>
              </a:rPr>
              <a:t>=</a:t>
            </a:r>
            <a:endParaRPr lang="ko-KR" altLang="en-US" b="1" dirty="0">
              <a:solidFill>
                <a:srgbClr val="38A4A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1C305D4-8DDC-7DF8-EA4A-A6745F7DF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695" y="3879050"/>
            <a:ext cx="6612396" cy="54316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1F78A2A-FDCA-8EBD-A9B6-5A6F7D82C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695" y="2885839"/>
            <a:ext cx="6612396" cy="54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59728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6AD75092-F563-485B-B725-1FEA536D2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import </a:t>
            </a:r>
            <a:r>
              <a:rPr lang="ko-KR" altLang="en-US" dirty="0"/>
              <a:t>속성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import </a:t>
            </a:r>
            <a:r>
              <a:rPr lang="ko-KR" altLang="en-US" dirty="0"/>
              <a:t>속성</a:t>
            </a:r>
            <a:endParaRPr lang="en-US" altLang="ko-KR" dirty="0"/>
          </a:p>
          <a:p>
            <a:pPr lvl="1"/>
            <a:r>
              <a:rPr lang="ko-KR" altLang="en-US" dirty="0"/>
              <a:t>현재 </a:t>
            </a:r>
            <a:r>
              <a:rPr lang="en-US" altLang="ko-KR" dirty="0"/>
              <a:t>JSP </a:t>
            </a:r>
            <a:r>
              <a:rPr lang="ko-KR" altLang="en-US" dirty="0"/>
              <a:t>페이지에서 사용할 자바 클래스를 설정하는 데 사용됨</a:t>
            </a:r>
            <a:endParaRPr lang="en-US" altLang="ko-KR" dirty="0"/>
          </a:p>
          <a:p>
            <a:pPr lvl="1"/>
            <a:r>
              <a:rPr lang="ko-KR" altLang="en-US" dirty="0"/>
              <a:t>둘 이상의 자바 클래스를 포함하는 경우 쉼표</a:t>
            </a:r>
            <a:r>
              <a:rPr lang="en-US" altLang="ko-KR" dirty="0"/>
              <a:t>(,)</a:t>
            </a:r>
            <a:r>
              <a:rPr lang="ko-KR" altLang="en-US" dirty="0"/>
              <a:t>로 구분하여 연속해서 여러 개의 자바 클래스를 설정함</a:t>
            </a:r>
            <a:endParaRPr lang="en-US" altLang="ko-KR" dirty="0"/>
          </a:p>
          <a:p>
            <a:pPr lvl="1"/>
            <a:r>
              <a:rPr lang="ko-KR" altLang="en-US" dirty="0"/>
              <a:t>또는 여러 개의 자바 클래스를 각각 별도로 설정할 수도 있음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import </a:t>
            </a:r>
            <a:r>
              <a:rPr lang="ko-KR" altLang="en-US" dirty="0"/>
              <a:t>속성 사용 예</a:t>
            </a:r>
            <a:r>
              <a:rPr lang="en-US" altLang="ko-KR" dirty="0"/>
              <a:t>: </a:t>
            </a:r>
            <a:r>
              <a:rPr lang="ko-KR" altLang="en-US" dirty="0"/>
              <a:t>자바 패키지 </a:t>
            </a:r>
            <a:r>
              <a:rPr lang="en-US" altLang="ko-KR" dirty="0"/>
              <a:t>java.io.* </a:t>
            </a:r>
            <a:r>
              <a:rPr lang="ko-KR" altLang="en-US" dirty="0"/>
              <a:t>설정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sz="1200" dirty="0"/>
          </a:p>
          <a:p>
            <a:r>
              <a:rPr lang="en-US" altLang="ko-KR" dirty="0"/>
              <a:t>import </a:t>
            </a:r>
            <a:r>
              <a:rPr lang="ko-KR" altLang="en-US" dirty="0"/>
              <a:t>속성의 다중 자바 클래스 참조 예</a:t>
            </a:r>
            <a:r>
              <a:rPr lang="en-US" altLang="ko-KR" dirty="0"/>
              <a:t>: java.io.*</a:t>
            </a:r>
            <a:r>
              <a:rPr lang="ko-KR" altLang="en-US" dirty="0"/>
              <a:t>와 </a:t>
            </a:r>
            <a:r>
              <a:rPr lang="en-US" altLang="ko-KR" dirty="0"/>
              <a:t>java.lang.* </a:t>
            </a:r>
            <a:r>
              <a:rPr lang="ko-KR" altLang="en-US" dirty="0"/>
              <a:t>패키지 설정</a:t>
            </a:r>
          </a:p>
        </p:txBody>
      </p:sp>
      <p:sp>
        <p:nvSpPr>
          <p:cNvPr id="7" name="TextBox 6"/>
          <p:cNvSpPr txBox="1"/>
          <p:nvPr/>
        </p:nvSpPr>
        <p:spPr>
          <a:xfrm rot="5400000">
            <a:off x="4306740" y="527389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38A4A1"/>
                </a:solidFill>
              </a:rPr>
              <a:t>=</a:t>
            </a:r>
            <a:endParaRPr lang="ko-KR" altLang="en-US" b="1" dirty="0">
              <a:solidFill>
                <a:srgbClr val="38A4A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17E3783-DB3B-EDFA-1A07-5CAD04977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73" y="3612000"/>
            <a:ext cx="6596653" cy="51954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D20F3DF-0C2F-FF05-E414-68CD57677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673" y="4779150"/>
            <a:ext cx="6580909" cy="49593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B61BF5E-245F-3A0F-69D6-678CA4CED1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3673" y="5634245"/>
            <a:ext cx="6596653" cy="77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38402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C9044375-86A1-41ED-A1E9-4AFAC1644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import </a:t>
            </a:r>
            <a:r>
              <a:rPr lang="ko-KR" altLang="en-US" dirty="0"/>
              <a:t>속성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9E0E3C-7091-696F-981D-CD20E656D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3-3] page </a:t>
            </a:r>
            <a:r>
              <a:rPr lang="ko-KR" altLang="en-US" b="1" dirty="0" err="1">
                <a:solidFill>
                  <a:srgbClr val="0070C0"/>
                </a:solidFill>
              </a:rPr>
              <a:t>디렉티브</a:t>
            </a:r>
            <a:r>
              <a:rPr lang="ko-KR" altLang="en-US" b="1" dirty="0">
                <a:solidFill>
                  <a:srgbClr val="0070C0"/>
                </a:solidFill>
              </a:rPr>
              <a:t> 태그에 </a:t>
            </a:r>
            <a:r>
              <a:rPr lang="en-US" altLang="ko-KR" b="1" dirty="0">
                <a:solidFill>
                  <a:srgbClr val="0070C0"/>
                </a:solidFill>
              </a:rPr>
              <a:t>Date </a:t>
            </a:r>
            <a:r>
              <a:rPr lang="ko-KR" altLang="en-US" b="1" dirty="0">
                <a:solidFill>
                  <a:srgbClr val="0070C0"/>
                </a:solidFill>
              </a:rPr>
              <a:t>클래스를 이용하여 현재 날짜 출력하기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E21D510-ED2E-F43B-E341-19A5A156F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418" y="1661719"/>
            <a:ext cx="6565165" cy="280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05624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session </a:t>
            </a:r>
            <a:r>
              <a:rPr lang="ko-KR" altLang="en-US" dirty="0"/>
              <a:t>속성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session </a:t>
            </a:r>
            <a:r>
              <a:rPr lang="ko-KR" altLang="en-US" dirty="0"/>
              <a:t>속성</a:t>
            </a:r>
            <a:endParaRPr lang="en-US" altLang="ko-KR" dirty="0"/>
          </a:p>
          <a:p>
            <a:pPr lvl="1"/>
            <a:r>
              <a:rPr lang="ko-KR" altLang="en-US" dirty="0"/>
              <a:t>현재 </a:t>
            </a:r>
            <a:r>
              <a:rPr lang="en-US" altLang="ko-KR" dirty="0"/>
              <a:t>JSP </a:t>
            </a:r>
            <a:r>
              <a:rPr lang="ko-KR" altLang="en-US" dirty="0"/>
              <a:t>페이지의 </a:t>
            </a:r>
            <a:r>
              <a:rPr lang="en-US" altLang="ko-KR" dirty="0"/>
              <a:t>HTTP </a:t>
            </a:r>
            <a:r>
              <a:rPr lang="ko-KR" altLang="en-US" dirty="0"/>
              <a:t>세션 사용 여부를 설정하는 데 사용됨</a:t>
            </a:r>
            <a:endParaRPr lang="en-US" altLang="ko-KR" dirty="0"/>
          </a:p>
          <a:p>
            <a:pPr lvl="1"/>
            <a:r>
              <a:rPr lang="ko-KR" altLang="en-US" dirty="0"/>
              <a:t>기본 값 </a:t>
            </a:r>
            <a:r>
              <a:rPr lang="en-US" altLang="ko-KR" dirty="0"/>
              <a:t>: </a:t>
            </a:r>
            <a:r>
              <a:rPr lang="ko-KR" altLang="en-US" dirty="0"/>
              <a:t>세션을 자동으로 사용하는 </a:t>
            </a:r>
            <a:r>
              <a:rPr lang="en-US" altLang="ko-KR" dirty="0"/>
              <a:t>true</a:t>
            </a:r>
          </a:p>
          <a:p>
            <a:pPr lvl="2"/>
            <a:r>
              <a:rPr lang="ko-KR" altLang="en-US" b="0" dirty="0"/>
              <a:t>만약 </a:t>
            </a:r>
            <a:r>
              <a:rPr lang="en-US" altLang="ko-KR" b="0" dirty="0"/>
              <a:t>session </a:t>
            </a:r>
            <a:r>
              <a:rPr lang="ko-KR" altLang="en-US" b="0" dirty="0"/>
              <a:t>속성 값을 </a:t>
            </a:r>
            <a:r>
              <a:rPr lang="en-US" altLang="ko-KR" b="0" dirty="0"/>
              <a:t>false</a:t>
            </a:r>
            <a:r>
              <a:rPr lang="ko-KR" altLang="en-US" b="0" dirty="0"/>
              <a:t>로 설정할 경우</a:t>
            </a:r>
            <a:r>
              <a:rPr lang="en-US" altLang="ko-KR" b="0" dirty="0"/>
              <a:t> </a:t>
            </a:r>
            <a:r>
              <a:rPr lang="ko-KR" altLang="en-US" b="0" dirty="0"/>
              <a:t>해당 </a:t>
            </a:r>
            <a:r>
              <a:rPr lang="en-US" altLang="ko-KR" b="0" dirty="0"/>
              <a:t>JSP </a:t>
            </a:r>
            <a:r>
              <a:rPr lang="ko-KR" altLang="en-US" b="0" dirty="0"/>
              <a:t>페이지에서 내장 객체인 </a:t>
            </a:r>
            <a:r>
              <a:rPr lang="en-US" altLang="ko-KR" b="0" dirty="0"/>
              <a:t>session </a:t>
            </a:r>
            <a:r>
              <a:rPr lang="ko-KR" altLang="en-US" b="0" dirty="0"/>
              <a:t>변수를 사용할 수 없다는 의미이므로 해당 페이지에 대해 세션을 유지 관리할 수 없음</a:t>
            </a:r>
            <a:endParaRPr lang="en-US" altLang="ko-KR" b="0" dirty="0"/>
          </a:p>
          <a:p>
            <a:endParaRPr lang="en-US" altLang="ko-KR" dirty="0"/>
          </a:p>
          <a:p>
            <a:r>
              <a:rPr lang="en-US" altLang="ko-KR" dirty="0"/>
              <a:t>session </a:t>
            </a:r>
            <a:r>
              <a:rPr lang="ko-KR" altLang="en-US" dirty="0"/>
              <a:t>속성 사용 예</a:t>
            </a:r>
            <a:r>
              <a:rPr lang="en-US" altLang="ko-KR" dirty="0"/>
              <a:t>: session </a:t>
            </a:r>
            <a:r>
              <a:rPr lang="ko-KR" altLang="en-US" dirty="0"/>
              <a:t>내장 객체 사용을 위한 </a:t>
            </a:r>
            <a:r>
              <a:rPr lang="en-US" altLang="ko-KR" dirty="0"/>
              <a:t>true </a:t>
            </a:r>
            <a:r>
              <a:rPr lang="ko-KR" altLang="en-US" dirty="0"/>
              <a:t>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135DBB5-047E-2B7A-74F6-09433D7FF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738" y="3429000"/>
            <a:ext cx="6604525" cy="51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47325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buffer </a:t>
            </a:r>
            <a:r>
              <a:rPr lang="ko-KR" altLang="en-US" dirty="0"/>
              <a:t>속성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buffer </a:t>
            </a:r>
            <a:r>
              <a:rPr lang="ko-KR" altLang="en-US" dirty="0"/>
              <a:t>속성</a:t>
            </a:r>
            <a:endParaRPr lang="en-US" altLang="ko-KR" dirty="0"/>
          </a:p>
          <a:p>
            <a:pPr lvl="1"/>
            <a:r>
              <a:rPr lang="ko-KR" altLang="en-US" dirty="0"/>
              <a:t>현재 </a:t>
            </a:r>
            <a:r>
              <a:rPr lang="en-US" altLang="ko-KR" dirty="0"/>
              <a:t>JSP </a:t>
            </a:r>
            <a:r>
              <a:rPr lang="ko-KR" altLang="en-US" dirty="0"/>
              <a:t>페이지의 출력 버퍼 크기를 설정하는 데 사용</a:t>
            </a:r>
            <a:endParaRPr lang="en-US" altLang="ko-KR" dirty="0"/>
          </a:p>
          <a:p>
            <a:pPr lvl="1"/>
            <a:r>
              <a:rPr lang="ko-KR" altLang="en-US" dirty="0"/>
              <a:t>속성 값 </a:t>
            </a:r>
            <a:r>
              <a:rPr lang="en-US" altLang="ko-KR" dirty="0"/>
              <a:t>: none</a:t>
            </a:r>
            <a:r>
              <a:rPr lang="ko-KR" altLang="en-US" dirty="0"/>
              <a:t>과 ‘버퍼 </a:t>
            </a:r>
            <a:r>
              <a:rPr lang="ko-KR" altLang="en-US" dirty="0" err="1"/>
              <a:t>크기’로</a:t>
            </a:r>
            <a:r>
              <a:rPr lang="ko-KR" altLang="en-US" dirty="0"/>
              <a:t> 설정</a:t>
            </a:r>
            <a:endParaRPr lang="en-US" altLang="ko-KR" dirty="0"/>
          </a:p>
          <a:p>
            <a:pPr lvl="2"/>
            <a:r>
              <a:rPr lang="ko-KR" altLang="en-US" dirty="0"/>
              <a:t>버퍼 크기 </a:t>
            </a:r>
            <a:r>
              <a:rPr lang="en-US" altLang="ko-KR" dirty="0"/>
              <a:t>: </a:t>
            </a:r>
            <a:r>
              <a:rPr lang="ko-KR" altLang="en-US" dirty="0"/>
              <a:t>출력 버퍼에 먼저 기록한 후 웹 브라우저로 보냄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buffer </a:t>
            </a:r>
            <a:r>
              <a:rPr lang="ko-KR" altLang="en-US" dirty="0"/>
              <a:t>속성 사용 예</a:t>
            </a:r>
            <a:r>
              <a:rPr lang="en-US" altLang="ko-KR" dirty="0"/>
              <a:t>: </a:t>
            </a:r>
            <a:r>
              <a:rPr lang="ko-KR" altLang="en-US" dirty="0"/>
              <a:t>출력 버퍼 크기를 </a:t>
            </a:r>
            <a:r>
              <a:rPr lang="en-US" altLang="ko-KR" dirty="0"/>
              <a:t>none</a:t>
            </a:r>
            <a:r>
              <a:rPr lang="ko-KR" altLang="en-US" dirty="0"/>
              <a:t>으로 설정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buffer </a:t>
            </a:r>
            <a:r>
              <a:rPr lang="ko-KR" altLang="en-US" dirty="0"/>
              <a:t>속성 사용 예</a:t>
            </a:r>
            <a:r>
              <a:rPr lang="en-US" altLang="ko-KR" dirty="0"/>
              <a:t>: </a:t>
            </a:r>
            <a:r>
              <a:rPr lang="ko-KR" altLang="en-US" dirty="0"/>
              <a:t>출력 버퍼 크기를 </a:t>
            </a:r>
            <a:r>
              <a:rPr lang="en-US" altLang="ko-KR" dirty="0"/>
              <a:t>32KB</a:t>
            </a:r>
            <a:r>
              <a:rPr lang="ko-KR" altLang="en-US" dirty="0"/>
              <a:t>로 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7A65D4-4FAF-8BBA-BEA4-02D1DB02A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546" y="3169228"/>
            <a:ext cx="6580909" cy="51954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AB0608E-F6F7-F2FB-F815-595346CC0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802" y="4419110"/>
            <a:ext cx="6596653" cy="50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10043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buffer </a:t>
            </a:r>
            <a:r>
              <a:rPr lang="ko-KR" altLang="en-US" dirty="0"/>
              <a:t>속성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3-4] page </a:t>
            </a:r>
            <a:r>
              <a:rPr lang="ko-KR" altLang="en-US" b="1" dirty="0" err="1">
                <a:solidFill>
                  <a:srgbClr val="0070C0"/>
                </a:solidFill>
              </a:rPr>
              <a:t>디렉티브</a:t>
            </a:r>
            <a:r>
              <a:rPr lang="ko-KR" altLang="en-US" b="1" dirty="0">
                <a:solidFill>
                  <a:srgbClr val="0070C0"/>
                </a:solidFill>
              </a:rPr>
              <a:t> 태그에 </a:t>
            </a:r>
            <a:r>
              <a:rPr lang="en-US" altLang="ko-KR" b="1" dirty="0">
                <a:solidFill>
                  <a:srgbClr val="0070C0"/>
                </a:solidFill>
              </a:rPr>
              <a:t>Date </a:t>
            </a:r>
            <a:r>
              <a:rPr lang="ko-KR" altLang="en-US" b="1" dirty="0">
                <a:solidFill>
                  <a:srgbClr val="0070C0"/>
                </a:solidFill>
              </a:rPr>
              <a:t>클래스를 이용하여 현재 날짜 출력하기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7BA5E9B-442B-9E01-5497-B174E3F70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289" y="1808820"/>
            <a:ext cx="6549422" cy="281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5669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en-US" altLang="ko-KR" dirty="0" err="1"/>
              <a:t>autoFlush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autoFlush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  <a:endParaRPr lang="en-US" altLang="ko-KR" dirty="0"/>
          </a:p>
          <a:p>
            <a:pPr lvl="1"/>
            <a:r>
              <a:rPr lang="ko-KR" altLang="en-US" dirty="0"/>
              <a:t>자동으로 출력 버퍼를 비우는 것을 제어하는 데 사용됨</a:t>
            </a:r>
            <a:endParaRPr lang="en-US" altLang="ko-KR" dirty="0"/>
          </a:p>
          <a:p>
            <a:pPr lvl="1"/>
            <a:r>
              <a:rPr lang="ko-KR" altLang="en-US" dirty="0"/>
              <a:t>기본값</a:t>
            </a:r>
            <a:r>
              <a:rPr lang="en-US" altLang="ko-KR" dirty="0"/>
              <a:t>: true</a:t>
            </a:r>
          </a:p>
          <a:p>
            <a:pPr lvl="1"/>
            <a:r>
              <a:rPr lang="en-US" altLang="ko-KR" dirty="0" err="1"/>
              <a:t>fasle</a:t>
            </a:r>
            <a:r>
              <a:rPr lang="en-US" altLang="ko-KR" dirty="0"/>
              <a:t> </a:t>
            </a:r>
            <a:r>
              <a:rPr lang="ko-KR" altLang="en-US" dirty="0"/>
              <a:t>설정 시 버퍼가 가득 채워질 때 버퍼 </a:t>
            </a:r>
            <a:r>
              <a:rPr lang="ko-KR" altLang="en-US" dirty="0" err="1"/>
              <a:t>오버플로의</a:t>
            </a:r>
            <a:r>
              <a:rPr lang="ko-KR" altLang="en-US" dirty="0"/>
              <a:t> 예외 발생함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 err="1"/>
              <a:t>autoFlush</a:t>
            </a:r>
            <a:r>
              <a:rPr lang="en-US" altLang="ko-KR" dirty="0"/>
              <a:t> </a:t>
            </a:r>
            <a:r>
              <a:rPr lang="ko-KR" altLang="en-US" dirty="0"/>
              <a:t>속성 사용 예</a:t>
            </a:r>
            <a:r>
              <a:rPr lang="en-US" altLang="ko-KR" dirty="0"/>
              <a:t>: </a:t>
            </a:r>
            <a:r>
              <a:rPr lang="ko-KR" altLang="en-US" dirty="0"/>
              <a:t>출력 버퍼 자동 비우기를 위한 </a:t>
            </a:r>
            <a:r>
              <a:rPr lang="en-US" altLang="ko-KR" dirty="0"/>
              <a:t>true </a:t>
            </a:r>
            <a:r>
              <a:rPr lang="ko-KR" altLang="en-US" dirty="0"/>
              <a:t>설정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A0BA62-1E22-B3EE-3788-29F082B9F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09" y="3177099"/>
            <a:ext cx="6588781" cy="50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2959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 </a:t>
            </a:r>
            <a:r>
              <a:rPr lang="en-US" altLang="ko-KR" dirty="0" err="1"/>
              <a:t>isThreadSafe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isThreadSafe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  <a:endParaRPr lang="en-US" altLang="ko-KR" dirty="0"/>
          </a:p>
          <a:p>
            <a:pPr lvl="1"/>
            <a:r>
              <a:rPr lang="ko-KR" altLang="en-US" dirty="0"/>
              <a:t>현재 </a:t>
            </a:r>
            <a:r>
              <a:rPr lang="en-US" altLang="ko-KR" dirty="0"/>
              <a:t>JSP </a:t>
            </a:r>
            <a:r>
              <a:rPr lang="ko-KR" altLang="en-US" dirty="0"/>
              <a:t>페이지에서 </a:t>
            </a:r>
            <a:r>
              <a:rPr lang="ko-KR" altLang="en-US" dirty="0" err="1"/>
              <a:t>멀티스레드의</a:t>
            </a:r>
            <a:r>
              <a:rPr lang="ko-KR" altLang="en-US" dirty="0"/>
              <a:t> 동작을 제어하는 데 사용됨</a:t>
            </a:r>
            <a:endParaRPr lang="en-US" altLang="ko-KR" dirty="0"/>
          </a:p>
          <a:p>
            <a:pPr lvl="1"/>
            <a:r>
              <a:rPr lang="ko-KR" altLang="en-US" dirty="0"/>
              <a:t>기본값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true </a:t>
            </a:r>
          </a:p>
          <a:p>
            <a:pPr lvl="1"/>
            <a:r>
              <a:rPr lang="en-US" altLang="ko-KR" dirty="0"/>
              <a:t>false</a:t>
            </a:r>
            <a:r>
              <a:rPr lang="ko-KR" altLang="en-US" dirty="0"/>
              <a:t> 설정 시 </a:t>
            </a:r>
            <a:r>
              <a:rPr lang="en-US" altLang="ko-KR" dirty="0"/>
              <a:t>JSP </a:t>
            </a:r>
            <a:r>
              <a:rPr lang="ko-KR" altLang="en-US" dirty="0"/>
              <a:t>페이지에 대한 요청이 순차적으로 처리됨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 err="1"/>
              <a:t>isThreadSafe</a:t>
            </a:r>
            <a:r>
              <a:rPr lang="en-US" altLang="ko-KR" dirty="0"/>
              <a:t> </a:t>
            </a:r>
            <a:r>
              <a:rPr lang="ko-KR" altLang="en-US" dirty="0"/>
              <a:t>속성 사용 예</a:t>
            </a:r>
            <a:r>
              <a:rPr lang="en-US" altLang="ko-KR" dirty="0"/>
              <a:t>: </a:t>
            </a:r>
            <a:r>
              <a:rPr lang="ko-KR" altLang="en-US" dirty="0" err="1"/>
              <a:t>멀티스레드</a:t>
            </a:r>
            <a:r>
              <a:rPr lang="ko-KR" altLang="en-US" dirty="0"/>
              <a:t> 처리를 위한 </a:t>
            </a:r>
            <a:r>
              <a:rPr lang="en-US" altLang="ko-KR" dirty="0"/>
              <a:t>true </a:t>
            </a:r>
            <a:r>
              <a:rPr lang="ko-KR" altLang="en-US" dirty="0"/>
              <a:t>설정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1679DA4-F765-E0CF-B3E8-4310A6E4B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635" y="3248105"/>
            <a:ext cx="6596653" cy="49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85939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info </a:t>
            </a:r>
            <a:r>
              <a:rPr lang="ko-KR" altLang="en-US" dirty="0"/>
              <a:t>속성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info </a:t>
            </a:r>
            <a:r>
              <a:rPr lang="ko-KR" altLang="en-US" dirty="0"/>
              <a:t>속성</a:t>
            </a:r>
            <a:endParaRPr lang="en-US" altLang="ko-KR" dirty="0"/>
          </a:p>
          <a:p>
            <a:pPr lvl="1"/>
            <a:r>
              <a:rPr lang="ko-KR" altLang="en-US" dirty="0"/>
              <a:t>현재 </a:t>
            </a:r>
            <a:r>
              <a:rPr lang="en-US" altLang="ko-KR" dirty="0"/>
              <a:t>JSP </a:t>
            </a:r>
            <a:r>
              <a:rPr lang="ko-KR" altLang="en-US" dirty="0"/>
              <a:t>페이지에 대한 설명을 설정하는 데 사용됨</a:t>
            </a:r>
            <a:endParaRPr lang="en-US" altLang="ko-KR" dirty="0"/>
          </a:p>
          <a:p>
            <a:pPr lvl="1"/>
            <a:r>
              <a:rPr lang="en-US" altLang="ko-KR" dirty="0"/>
              <a:t>JSP </a:t>
            </a:r>
            <a:r>
              <a:rPr lang="ko-KR" altLang="en-US" dirty="0"/>
              <a:t>컨테이너는 </a:t>
            </a:r>
            <a:r>
              <a:rPr lang="en-US" altLang="ko-KR" dirty="0"/>
              <a:t>info </a:t>
            </a:r>
            <a:r>
              <a:rPr lang="ko-KR" altLang="en-US" dirty="0"/>
              <a:t>속성을 무시함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info </a:t>
            </a:r>
            <a:r>
              <a:rPr lang="ko-KR" altLang="en-US" dirty="0"/>
              <a:t>속성 사용 예</a:t>
            </a:r>
            <a:r>
              <a:rPr lang="en-US" altLang="ko-KR" dirty="0"/>
              <a:t>: JSP </a:t>
            </a:r>
            <a:r>
              <a:rPr lang="ko-KR" altLang="en-US" dirty="0"/>
              <a:t>페이지 설명을 위한 설정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CB32821-2DD2-8E87-62AA-19C31C5D1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737" y="2888940"/>
            <a:ext cx="6604525" cy="51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46576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info </a:t>
            </a:r>
            <a:r>
              <a:rPr lang="ko-KR" altLang="en-US" dirty="0"/>
              <a:t>속성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3-5] page </a:t>
            </a:r>
            <a:r>
              <a:rPr lang="ko-KR" altLang="en-US" b="1" dirty="0" err="1">
                <a:solidFill>
                  <a:srgbClr val="0070C0"/>
                </a:solidFill>
              </a:rPr>
              <a:t>디렉티브</a:t>
            </a:r>
            <a:r>
              <a:rPr lang="ko-KR" altLang="en-US" b="1" dirty="0">
                <a:solidFill>
                  <a:srgbClr val="0070C0"/>
                </a:solidFill>
              </a:rPr>
              <a:t> 태그에 현재 웹 페이지의 설명 작성하기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B74569E-05F0-C21C-261E-B929B0E48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289" y="1913658"/>
            <a:ext cx="6549422" cy="303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425513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 </a:t>
            </a:r>
            <a:r>
              <a:rPr lang="en-US" altLang="ko-KR" dirty="0" err="1"/>
              <a:t>errorPage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errorPage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  <a:endParaRPr lang="en-US" altLang="ko-KR" dirty="0"/>
          </a:p>
          <a:p>
            <a:pPr lvl="1"/>
            <a:r>
              <a:rPr lang="en-US" altLang="ko-KR" dirty="0"/>
              <a:t>JSP </a:t>
            </a:r>
            <a:r>
              <a:rPr lang="ko-KR" altLang="en-US" dirty="0"/>
              <a:t>페이지가 실행되는 동안 오류가 발생하면 특정 오류 페이지로 이동하는 데 사용됨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 err="1"/>
              <a:t>errorPage</a:t>
            </a:r>
            <a:r>
              <a:rPr lang="en-US" altLang="ko-KR" dirty="0"/>
              <a:t> </a:t>
            </a:r>
            <a:r>
              <a:rPr lang="ko-KR" altLang="en-US" dirty="0"/>
              <a:t>속성 사용 예</a:t>
            </a:r>
            <a:r>
              <a:rPr lang="en-US" altLang="ko-KR" dirty="0"/>
              <a:t>: </a:t>
            </a:r>
            <a:r>
              <a:rPr lang="ko-KR" altLang="en-US" dirty="0"/>
              <a:t>이동할 오류 페이지 </a:t>
            </a:r>
            <a:r>
              <a:rPr lang="en-US" altLang="ko-KR" dirty="0" err="1"/>
              <a:t>MyErrorPage.jsp</a:t>
            </a:r>
            <a:r>
              <a:rPr lang="en-US" altLang="ko-KR" dirty="0"/>
              <a:t> </a:t>
            </a:r>
            <a:r>
              <a:rPr lang="ko-KR" altLang="en-US" dirty="0"/>
              <a:t>설정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ED1B950-06FF-3460-24DE-A52A18319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737" y="2753925"/>
            <a:ext cx="6604525" cy="49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03890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 </a:t>
            </a:r>
            <a:r>
              <a:rPr lang="en-US" altLang="ko-KR" dirty="0" err="1"/>
              <a:t>errorPage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3-6] page </a:t>
            </a:r>
            <a:r>
              <a:rPr lang="ko-KR" altLang="en-US" b="1" dirty="0" err="1">
                <a:solidFill>
                  <a:srgbClr val="0070C0"/>
                </a:solidFill>
              </a:rPr>
              <a:t>디렉티브</a:t>
            </a:r>
            <a:r>
              <a:rPr lang="ko-KR" altLang="en-US" b="1" dirty="0">
                <a:solidFill>
                  <a:srgbClr val="0070C0"/>
                </a:solidFill>
              </a:rPr>
              <a:t> 태그에 이동할 특정 오류 페이지 작성하기</a:t>
            </a:r>
            <a:endParaRPr lang="en-US" altLang="ko-KR" b="1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다음과 같이 웹 페이지를 작성하고 ‘</a:t>
            </a:r>
            <a:r>
              <a:rPr lang="en-US" altLang="ko-KR" dirty="0">
                <a:solidFill>
                  <a:schemeClr val="tx1"/>
                </a:solidFill>
              </a:rPr>
              <a:t>http://localhost:8080/</a:t>
            </a:r>
            <a:r>
              <a:rPr lang="en-US" altLang="ko-KR" dirty="0" err="1">
                <a:solidFill>
                  <a:schemeClr val="tx1"/>
                </a:solidFill>
              </a:rPr>
              <a:t>JSPBook</a:t>
            </a:r>
            <a:r>
              <a:rPr lang="en-US" altLang="ko-KR" dirty="0">
                <a:solidFill>
                  <a:schemeClr val="tx1"/>
                </a:solidFill>
              </a:rPr>
              <a:t>/ch03/</a:t>
            </a:r>
            <a:r>
              <a:rPr lang="en-US" altLang="ko-KR" dirty="0" err="1">
                <a:solidFill>
                  <a:schemeClr val="tx1"/>
                </a:solidFill>
              </a:rPr>
              <a:t>page_errorPage.jsp</a:t>
            </a:r>
            <a:r>
              <a:rPr lang="en-US" altLang="ko-KR" dirty="0">
                <a:solidFill>
                  <a:schemeClr val="tx1"/>
                </a:solidFill>
              </a:rPr>
              <a:t>’</a:t>
            </a:r>
            <a:r>
              <a:rPr lang="ko-KR" altLang="en-US" dirty="0">
                <a:solidFill>
                  <a:schemeClr val="tx1"/>
                </a:solidFill>
              </a:rPr>
              <a:t>에서 실행 결과 확인하기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3017EEE-2AFD-4785-5A9E-2FA13E87E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353" y="2213865"/>
            <a:ext cx="6557294" cy="320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13195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 </a:t>
            </a:r>
            <a:r>
              <a:rPr lang="en-US" altLang="ko-KR" dirty="0" err="1"/>
              <a:t>errorPage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3-6] page </a:t>
            </a:r>
            <a:r>
              <a:rPr lang="ko-KR" altLang="en-US" b="1" dirty="0" err="1">
                <a:solidFill>
                  <a:srgbClr val="0070C0"/>
                </a:solidFill>
              </a:rPr>
              <a:t>디렉티브</a:t>
            </a:r>
            <a:r>
              <a:rPr lang="ko-KR" altLang="en-US" b="1" dirty="0">
                <a:solidFill>
                  <a:srgbClr val="0070C0"/>
                </a:solidFill>
              </a:rPr>
              <a:t> 태그에 이동할 특정 오류 페이지 작성하기</a:t>
            </a:r>
            <a:endParaRPr lang="en-US" altLang="ko-KR" b="1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en-US" altLang="ko-KR" dirty="0" err="1">
                <a:solidFill>
                  <a:schemeClr val="tx1"/>
                </a:solidFill>
              </a:rPr>
              <a:t>page_errorPage.jsp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파일의 </a:t>
            </a:r>
            <a:r>
              <a:rPr lang="en-US" altLang="ko-KR" dirty="0">
                <a:solidFill>
                  <a:schemeClr val="tx1"/>
                </a:solidFill>
              </a:rPr>
              <a:t>page </a:t>
            </a:r>
            <a:r>
              <a:rPr lang="ko-KR" altLang="en-US" dirty="0" err="1">
                <a:solidFill>
                  <a:schemeClr val="tx1"/>
                </a:solidFill>
              </a:rPr>
              <a:t>디렉티브</a:t>
            </a:r>
            <a:r>
              <a:rPr lang="ko-KR" altLang="en-US" dirty="0">
                <a:solidFill>
                  <a:schemeClr val="tx1"/>
                </a:solidFill>
              </a:rPr>
              <a:t> 태그를 추가 수정하고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‘</a:t>
            </a:r>
            <a:r>
              <a:rPr lang="en-US" altLang="ko-KR" dirty="0">
                <a:solidFill>
                  <a:schemeClr val="tx1"/>
                </a:solidFill>
              </a:rPr>
              <a:t>http://localhost:8080/</a:t>
            </a:r>
            <a:r>
              <a:rPr lang="en-US" altLang="ko-KR" dirty="0" err="1">
                <a:solidFill>
                  <a:schemeClr val="tx1"/>
                </a:solidFill>
              </a:rPr>
              <a:t>JSPBook</a:t>
            </a:r>
            <a:r>
              <a:rPr lang="en-US" altLang="ko-KR" dirty="0">
                <a:solidFill>
                  <a:schemeClr val="tx1"/>
                </a:solidFill>
              </a:rPr>
              <a:t>/ch03/</a:t>
            </a:r>
            <a:r>
              <a:rPr lang="en-US" altLang="ko-KR" dirty="0" err="1">
                <a:solidFill>
                  <a:schemeClr val="tx1"/>
                </a:solidFill>
              </a:rPr>
              <a:t>page_errorPage.jsp</a:t>
            </a:r>
            <a:r>
              <a:rPr lang="en-US" altLang="ko-KR" dirty="0">
                <a:solidFill>
                  <a:schemeClr val="tx1"/>
                </a:solidFill>
              </a:rPr>
              <a:t>’</a:t>
            </a:r>
            <a:r>
              <a:rPr lang="ko-KR" altLang="en-US" dirty="0">
                <a:solidFill>
                  <a:schemeClr val="tx1"/>
                </a:solidFill>
              </a:rPr>
              <a:t>에서 실행 결과를 확인하기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55E62A-4522-5F60-A905-520F11B04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481" y="2181900"/>
            <a:ext cx="6573037" cy="354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25940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 </a:t>
            </a:r>
            <a:r>
              <a:rPr lang="en-US" altLang="ko-KR" dirty="0" err="1"/>
              <a:t>isErrorPage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611561" y="774420"/>
            <a:ext cx="8370929" cy="5624910"/>
          </a:xfrm>
        </p:spPr>
        <p:txBody>
          <a:bodyPr/>
          <a:lstStyle/>
          <a:p>
            <a:r>
              <a:rPr lang="en-US" altLang="ko-KR" dirty="0" err="1"/>
              <a:t>isErrorPage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  <a:endParaRPr lang="en-US" altLang="ko-KR" dirty="0"/>
          </a:p>
          <a:p>
            <a:pPr lvl="1"/>
            <a:r>
              <a:rPr lang="ko-KR" altLang="en-US" dirty="0"/>
              <a:t>현재 </a:t>
            </a:r>
            <a:r>
              <a:rPr lang="en-US" altLang="ko-KR" dirty="0"/>
              <a:t>JSP </a:t>
            </a:r>
            <a:r>
              <a:rPr lang="ko-KR" altLang="en-US" dirty="0"/>
              <a:t>페이지가 오류 페이지인지 여부를 설정하는 데 사용됨</a:t>
            </a:r>
            <a:endParaRPr lang="en-US" altLang="ko-KR" dirty="0"/>
          </a:p>
          <a:p>
            <a:pPr lvl="1"/>
            <a:r>
              <a:rPr lang="ko-KR" altLang="en-US" dirty="0"/>
              <a:t>기본값</a:t>
            </a:r>
            <a:r>
              <a:rPr lang="en-US" altLang="ko-KR" dirty="0"/>
              <a:t>: false</a:t>
            </a:r>
          </a:p>
          <a:p>
            <a:pPr lvl="1"/>
            <a:r>
              <a:rPr lang="ko-KR" altLang="en-US" dirty="0"/>
              <a:t>예외 처리를 위한 내장 객체인 </a:t>
            </a:r>
            <a:r>
              <a:rPr lang="en-US" altLang="ko-KR" dirty="0"/>
              <a:t>exception </a:t>
            </a:r>
            <a:r>
              <a:rPr lang="ko-KR" altLang="en-US" dirty="0"/>
              <a:t>변수를 사용할</a:t>
            </a:r>
            <a:r>
              <a:rPr lang="en-US" altLang="ko-KR" dirty="0"/>
              <a:t> </a:t>
            </a:r>
            <a:r>
              <a:rPr lang="ko-KR" altLang="en-US" dirty="0"/>
              <a:t>수 없음</a:t>
            </a:r>
            <a:endParaRPr lang="en-US" altLang="ko-KR" dirty="0"/>
          </a:p>
          <a:p>
            <a:pPr lvl="1"/>
            <a:r>
              <a:rPr lang="en-US" altLang="ko-KR" dirty="0"/>
              <a:t>true</a:t>
            </a:r>
            <a:r>
              <a:rPr lang="ko-KR" altLang="en-US" dirty="0"/>
              <a:t>로 설정 시 현재 </a:t>
            </a:r>
            <a:r>
              <a:rPr lang="en-US" altLang="ko-KR" dirty="0"/>
              <a:t>JSP </a:t>
            </a:r>
            <a:r>
              <a:rPr lang="ko-KR" altLang="en-US" dirty="0"/>
              <a:t>페이지는 오류 페이지가 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 err="1"/>
              <a:t>isErrorPage</a:t>
            </a:r>
            <a:r>
              <a:rPr lang="en-US" altLang="ko-KR" dirty="0"/>
              <a:t> </a:t>
            </a:r>
            <a:r>
              <a:rPr lang="ko-KR" altLang="en-US" dirty="0"/>
              <a:t>속성 사용 예</a:t>
            </a:r>
            <a:r>
              <a:rPr lang="en-US" altLang="ko-KR" dirty="0"/>
              <a:t>: </a:t>
            </a:r>
            <a:r>
              <a:rPr lang="ko-KR" altLang="en-US" dirty="0"/>
              <a:t>현재 </a:t>
            </a:r>
            <a:r>
              <a:rPr lang="en-US" altLang="ko-KR" dirty="0"/>
              <a:t>JSP </a:t>
            </a:r>
            <a:r>
              <a:rPr lang="ko-KR" altLang="en-US" dirty="0"/>
              <a:t>페이지가 오류 페이지가 되도록 </a:t>
            </a:r>
            <a:r>
              <a:rPr lang="en-US" altLang="ko-KR" dirty="0"/>
              <a:t>true </a:t>
            </a:r>
            <a:r>
              <a:rPr lang="ko-KR" altLang="en-US" dirty="0"/>
              <a:t>설정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F1762A9-9740-6925-5090-341B42E14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625" y="3879050"/>
            <a:ext cx="6588781" cy="51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427150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 </a:t>
            </a:r>
            <a:r>
              <a:rPr lang="en-US" altLang="ko-KR" dirty="0" err="1"/>
              <a:t>isErrorPage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3-7] page </a:t>
            </a:r>
            <a:r>
              <a:rPr lang="ko-KR" altLang="en-US" b="1" dirty="0" err="1">
                <a:solidFill>
                  <a:srgbClr val="0070C0"/>
                </a:solidFill>
              </a:rPr>
              <a:t>디렉티브</a:t>
            </a:r>
            <a:r>
              <a:rPr lang="ko-KR" altLang="en-US" b="1" dirty="0">
                <a:solidFill>
                  <a:srgbClr val="0070C0"/>
                </a:solidFill>
              </a:rPr>
              <a:t> 태그에 현재 </a:t>
            </a:r>
            <a:r>
              <a:rPr lang="en-US" altLang="ko-KR" b="1" dirty="0">
                <a:solidFill>
                  <a:srgbClr val="0070C0"/>
                </a:solidFill>
              </a:rPr>
              <a:t>JSP </a:t>
            </a:r>
            <a:r>
              <a:rPr lang="ko-KR" altLang="en-US" b="1" dirty="0">
                <a:solidFill>
                  <a:srgbClr val="0070C0"/>
                </a:solidFill>
              </a:rPr>
              <a:t>페이지 오류 페이지로 설정하기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C670BA0-E83A-63C3-42F4-56CB9373D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352" y="1697182"/>
            <a:ext cx="6557294" cy="346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083292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12. </a:t>
            </a:r>
            <a:r>
              <a:rPr lang="en-US" altLang="ko-KR" dirty="0" err="1"/>
              <a:t>isErrorPage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3-7] page </a:t>
            </a:r>
            <a:r>
              <a:rPr lang="ko-KR" altLang="en-US" b="1" dirty="0" err="1">
                <a:solidFill>
                  <a:srgbClr val="0070C0"/>
                </a:solidFill>
              </a:rPr>
              <a:t>디렉티브</a:t>
            </a:r>
            <a:r>
              <a:rPr lang="ko-KR" altLang="en-US" b="1" dirty="0">
                <a:solidFill>
                  <a:srgbClr val="0070C0"/>
                </a:solidFill>
              </a:rPr>
              <a:t> 태그에 현재 </a:t>
            </a:r>
            <a:r>
              <a:rPr lang="en-US" altLang="ko-KR" b="1" dirty="0">
                <a:solidFill>
                  <a:srgbClr val="0070C0"/>
                </a:solidFill>
              </a:rPr>
              <a:t>JSP </a:t>
            </a:r>
            <a:r>
              <a:rPr lang="ko-KR" altLang="en-US" b="1" dirty="0">
                <a:solidFill>
                  <a:srgbClr val="0070C0"/>
                </a:solidFill>
              </a:rPr>
              <a:t>페이지 오류 페이지로 설정하기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F9F3549-DB0C-135A-9F40-3627483FDBC4}"/>
              </a:ext>
            </a:extLst>
          </p:cNvPr>
          <p:cNvGrpSpPr/>
          <p:nvPr/>
        </p:nvGrpSpPr>
        <p:grpSpPr>
          <a:xfrm>
            <a:off x="1316038" y="1988840"/>
            <a:ext cx="6511924" cy="4033116"/>
            <a:chOff x="1315771" y="1988840"/>
            <a:chExt cx="6511924" cy="403311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42665C0-C87E-A09C-6292-356739888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6307" y="1988840"/>
              <a:ext cx="6511388" cy="1031219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B19C550-FE22-4B7C-E55F-1C03A1407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5771" y="2888940"/>
              <a:ext cx="6511923" cy="31330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6529838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 </a:t>
            </a:r>
            <a:r>
              <a:rPr lang="en-US" altLang="ko-KR" dirty="0" err="1"/>
              <a:t>isELIgnored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isELIgnored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  <a:endParaRPr lang="en-US" altLang="ko-KR" dirty="0"/>
          </a:p>
          <a:p>
            <a:pPr lvl="1"/>
            <a:r>
              <a:rPr lang="ko-KR" altLang="en-US" dirty="0"/>
              <a:t>현재 </a:t>
            </a:r>
            <a:r>
              <a:rPr lang="en-US" altLang="ko-KR" dirty="0"/>
              <a:t>JSP </a:t>
            </a:r>
            <a:r>
              <a:rPr lang="ko-KR" altLang="en-US" dirty="0"/>
              <a:t>페이지의 표현 언어</a:t>
            </a:r>
            <a:r>
              <a:rPr lang="en-US" altLang="ko-KR" dirty="0"/>
              <a:t> </a:t>
            </a:r>
            <a:r>
              <a:rPr lang="ko-KR" altLang="en-US" dirty="0"/>
              <a:t>사용 여부를 설정하는 데 사용됨</a:t>
            </a:r>
            <a:endParaRPr lang="en-US" altLang="ko-KR" dirty="0"/>
          </a:p>
          <a:p>
            <a:pPr lvl="1"/>
            <a:r>
              <a:rPr lang="ko-KR" altLang="en-US" dirty="0"/>
              <a:t>기본값</a:t>
            </a:r>
            <a:r>
              <a:rPr lang="en-US" altLang="ko-KR" dirty="0"/>
              <a:t>: false</a:t>
            </a:r>
          </a:p>
          <a:p>
            <a:pPr lvl="1"/>
            <a:r>
              <a:rPr lang="en-US" altLang="ko-KR" dirty="0"/>
              <a:t>true</a:t>
            </a:r>
            <a:r>
              <a:rPr lang="ko-KR" altLang="en-US" dirty="0"/>
              <a:t>로 설정 시 정적 텍스트로 처리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 err="1"/>
              <a:t>isELIgnored</a:t>
            </a:r>
            <a:r>
              <a:rPr lang="en-US" altLang="ko-KR" dirty="0"/>
              <a:t> </a:t>
            </a:r>
            <a:r>
              <a:rPr lang="ko-KR" altLang="en-US" dirty="0"/>
              <a:t>속성 사용 예</a:t>
            </a:r>
            <a:r>
              <a:rPr lang="en-US" altLang="ko-KR" dirty="0"/>
              <a:t>: </a:t>
            </a:r>
            <a:r>
              <a:rPr lang="ko-KR" altLang="en-US" dirty="0"/>
              <a:t>표현 언어를 처리하지 않기 위한 </a:t>
            </a:r>
            <a:r>
              <a:rPr lang="en-US" altLang="ko-KR" dirty="0"/>
              <a:t>true </a:t>
            </a:r>
            <a:r>
              <a:rPr lang="ko-KR" altLang="en-US" dirty="0"/>
              <a:t>설정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88FD9D6-4ABA-7E09-4C1E-EA3C8F6FA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09" y="3269495"/>
            <a:ext cx="6588781" cy="51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959293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 </a:t>
            </a:r>
            <a:r>
              <a:rPr lang="en-US" altLang="ko-KR" dirty="0" err="1"/>
              <a:t>isELIgnored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3-8] page </a:t>
            </a:r>
            <a:r>
              <a:rPr lang="ko-KR" altLang="en-US" b="1" dirty="0" err="1">
                <a:solidFill>
                  <a:srgbClr val="0070C0"/>
                </a:solidFill>
              </a:rPr>
              <a:t>디렉티브</a:t>
            </a:r>
            <a:r>
              <a:rPr lang="ko-KR" altLang="en-US" b="1" dirty="0">
                <a:solidFill>
                  <a:srgbClr val="0070C0"/>
                </a:solidFill>
              </a:rPr>
              <a:t> 태그에 표현 언어를 사용할 수 없도록 설정하기</a:t>
            </a:r>
            <a:endParaRPr lang="en-US" altLang="ko-KR" b="1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웹 페이지를 작성하고 ‘</a:t>
            </a:r>
            <a:r>
              <a:rPr lang="en-US" altLang="ko-KR" dirty="0">
                <a:solidFill>
                  <a:schemeClr val="tx1"/>
                </a:solidFill>
              </a:rPr>
              <a:t>http://localhost:8080/</a:t>
            </a:r>
            <a:r>
              <a:rPr lang="en-US" altLang="ko-KR" dirty="0" err="1">
                <a:solidFill>
                  <a:schemeClr val="tx1"/>
                </a:solidFill>
              </a:rPr>
              <a:t>JSPBook</a:t>
            </a:r>
            <a:r>
              <a:rPr lang="en-US" altLang="ko-KR" dirty="0">
                <a:solidFill>
                  <a:schemeClr val="tx1"/>
                </a:solidFill>
              </a:rPr>
              <a:t>/ch03/</a:t>
            </a:r>
            <a:r>
              <a:rPr lang="en-US" altLang="ko-KR" dirty="0" err="1">
                <a:solidFill>
                  <a:schemeClr val="tx1"/>
                </a:solidFill>
              </a:rPr>
              <a:t>page_isELIgnored.jsp</a:t>
            </a:r>
            <a:r>
              <a:rPr lang="en-US" altLang="ko-KR" dirty="0">
                <a:solidFill>
                  <a:schemeClr val="tx1"/>
                </a:solidFill>
              </a:rPr>
              <a:t>’</a:t>
            </a:r>
            <a:r>
              <a:rPr lang="ko-KR" altLang="en-US" dirty="0">
                <a:solidFill>
                  <a:schemeClr val="tx1"/>
                </a:solidFill>
              </a:rPr>
              <a:t>에서 실행 결과 확인하기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286694F-1C8C-BF7D-0592-BEC3AD341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033" y="2215614"/>
            <a:ext cx="6517934" cy="346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187017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 </a:t>
            </a:r>
            <a:r>
              <a:rPr lang="en-US" altLang="ko-KR" dirty="0" err="1"/>
              <a:t>isELIgnored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3-8] page </a:t>
            </a:r>
            <a:r>
              <a:rPr lang="ko-KR" altLang="en-US" b="1" dirty="0" err="1">
                <a:solidFill>
                  <a:srgbClr val="0070C0"/>
                </a:solidFill>
              </a:rPr>
              <a:t>디렉티브</a:t>
            </a:r>
            <a:r>
              <a:rPr lang="ko-KR" altLang="en-US" b="1" dirty="0">
                <a:solidFill>
                  <a:srgbClr val="0070C0"/>
                </a:solidFill>
              </a:rPr>
              <a:t> 태그에 표현 언어를 사용할 수 없도록 설정하기</a:t>
            </a:r>
            <a:endParaRPr lang="en-US" altLang="ko-KR" b="1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en-US" altLang="ko-KR" dirty="0" err="1">
                <a:solidFill>
                  <a:schemeClr val="tx1"/>
                </a:solidFill>
              </a:rPr>
              <a:t>page_isELIgnored.jsp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파일의 </a:t>
            </a:r>
            <a:r>
              <a:rPr lang="en-US" altLang="ko-KR" dirty="0">
                <a:solidFill>
                  <a:schemeClr val="tx1"/>
                </a:solidFill>
              </a:rPr>
              <a:t>page </a:t>
            </a:r>
            <a:r>
              <a:rPr lang="ko-KR" altLang="en-US" dirty="0" err="1">
                <a:solidFill>
                  <a:schemeClr val="tx1"/>
                </a:solidFill>
              </a:rPr>
              <a:t>디렉티브</a:t>
            </a:r>
            <a:r>
              <a:rPr lang="ko-KR" altLang="en-US" dirty="0">
                <a:solidFill>
                  <a:schemeClr val="tx1"/>
                </a:solidFill>
              </a:rPr>
              <a:t> 태그를 추가 수정하고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‘</a:t>
            </a:r>
            <a:r>
              <a:rPr lang="en-US" altLang="ko-KR" dirty="0">
                <a:solidFill>
                  <a:schemeClr val="tx1"/>
                </a:solidFill>
              </a:rPr>
              <a:t>http://localhost:8080/</a:t>
            </a:r>
            <a:r>
              <a:rPr lang="en-US" altLang="ko-KR" dirty="0" err="1">
                <a:solidFill>
                  <a:schemeClr val="tx1"/>
                </a:solidFill>
              </a:rPr>
              <a:t>JSPBook</a:t>
            </a:r>
            <a:r>
              <a:rPr lang="en-US" altLang="ko-KR" dirty="0">
                <a:solidFill>
                  <a:schemeClr val="tx1"/>
                </a:solidFill>
              </a:rPr>
              <a:t>/ch03/</a:t>
            </a:r>
            <a:r>
              <a:rPr lang="en-US" altLang="ko-KR" dirty="0" err="1">
                <a:solidFill>
                  <a:schemeClr val="tx1"/>
                </a:solidFill>
              </a:rPr>
              <a:t>page_isELIgnored.jsp</a:t>
            </a:r>
            <a:r>
              <a:rPr lang="en-US" altLang="ko-KR" dirty="0">
                <a:solidFill>
                  <a:schemeClr val="tx1"/>
                </a:solidFill>
              </a:rPr>
              <a:t>’</a:t>
            </a:r>
            <a:r>
              <a:rPr lang="ko-KR" altLang="en-US" dirty="0">
                <a:solidFill>
                  <a:schemeClr val="tx1"/>
                </a:solidFill>
              </a:rPr>
              <a:t>에서 실행 결과 확인하기</a:t>
            </a:r>
            <a:endParaRPr lang="en-US" altLang="ko-KR" dirty="0">
              <a:solidFill>
                <a:schemeClr val="tx1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53E6DD4-BEFA-E29B-B14E-41E81C8A6C87}"/>
              </a:ext>
            </a:extLst>
          </p:cNvPr>
          <p:cNvGrpSpPr/>
          <p:nvPr/>
        </p:nvGrpSpPr>
        <p:grpSpPr>
          <a:xfrm>
            <a:off x="1285481" y="2273102"/>
            <a:ext cx="6584911" cy="3676178"/>
            <a:chOff x="1285481" y="1842811"/>
            <a:chExt cx="6584911" cy="367617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0782380-F3A0-12D8-E0B7-9ED42DF07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5481" y="1842811"/>
              <a:ext cx="6573037" cy="3172376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42ED178-7E8A-0282-DFD7-6B16352B3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7355" y="5015187"/>
              <a:ext cx="6573037" cy="5038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124214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 </a:t>
            </a:r>
            <a:r>
              <a:rPr lang="en-US" altLang="ko-KR" dirty="0" err="1"/>
              <a:t>isScriptingEnabled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isScriptingEnabled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  <a:endParaRPr lang="en-US" altLang="ko-KR" dirty="0"/>
          </a:p>
          <a:p>
            <a:pPr lvl="1"/>
            <a:r>
              <a:rPr lang="ko-KR" altLang="en-US" dirty="0"/>
              <a:t>스크립트 태그</a:t>
            </a:r>
            <a:r>
              <a:rPr lang="en-US" altLang="ko-KR" dirty="0"/>
              <a:t>(</a:t>
            </a:r>
            <a:r>
              <a:rPr lang="ko-KR" altLang="en-US" dirty="0"/>
              <a:t>선언문</a:t>
            </a:r>
            <a:r>
              <a:rPr lang="en-US" altLang="ko-KR" dirty="0"/>
              <a:t>, </a:t>
            </a:r>
            <a:r>
              <a:rPr lang="ko-KR" altLang="en-US" dirty="0" err="1"/>
              <a:t>스크립틀릿</a:t>
            </a:r>
            <a:r>
              <a:rPr lang="en-US" altLang="ko-KR" dirty="0"/>
              <a:t>, </a:t>
            </a:r>
            <a:r>
              <a:rPr lang="ko-KR" altLang="en-US" dirty="0" err="1"/>
              <a:t>표현문</a:t>
            </a:r>
            <a:r>
              <a:rPr lang="en-US" altLang="ko-KR" dirty="0"/>
              <a:t>) </a:t>
            </a:r>
            <a:r>
              <a:rPr lang="ko-KR" altLang="en-US" dirty="0"/>
              <a:t>사용 여부를 설정하는 데 사용됨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 err="1"/>
              <a:t>isScriptingEnabled</a:t>
            </a:r>
            <a:r>
              <a:rPr lang="en-US" altLang="ko-KR" dirty="0"/>
              <a:t> </a:t>
            </a:r>
            <a:r>
              <a:rPr lang="ko-KR" altLang="en-US" dirty="0"/>
              <a:t>속성 사용 예</a:t>
            </a:r>
            <a:r>
              <a:rPr lang="en-US" altLang="ko-KR" dirty="0"/>
              <a:t>: </a:t>
            </a:r>
            <a:r>
              <a:rPr lang="ko-KR" altLang="en-US" dirty="0"/>
              <a:t>스크립트 태그를 사용하지 않기 위한 </a:t>
            </a:r>
            <a:r>
              <a:rPr lang="en-US" altLang="ko-KR" dirty="0"/>
              <a:t>false </a:t>
            </a:r>
            <a:r>
              <a:rPr lang="ko-KR" altLang="en-US" dirty="0"/>
              <a:t>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51E4DB-505D-A918-AABB-BA374A276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738" y="2663915"/>
            <a:ext cx="6604525" cy="50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851433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include </a:t>
            </a:r>
            <a:r>
              <a:rPr lang="ko-KR" altLang="en-US" dirty="0" err="1"/>
              <a:t>디렉티브</a:t>
            </a:r>
            <a:r>
              <a:rPr lang="ko-KR" altLang="en-US" dirty="0"/>
              <a:t> 태그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03</a:t>
            </a:r>
          </a:p>
        </p:txBody>
      </p:sp>
    </p:spTree>
    <p:extLst>
      <p:ext uri="{BB962C8B-B14F-4D97-AF65-F5344CB8AC3E}">
        <p14:creationId xmlns:p14="http://schemas.microsoft.com/office/powerpoint/2010/main" val="3867006089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77017C-EA22-42F3-94F7-4D95145B3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include </a:t>
            </a:r>
            <a:r>
              <a:rPr lang="ko-KR" altLang="en-US" dirty="0" err="1"/>
              <a:t>디렉티브</a:t>
            </a:r>
            <a:r>
              <a:rPr lang="ko-KR" altLang="en-US" dirty="0"/>
              <a:t> 태그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include </a:t>
            </a:r>
            <a:r>
              <a:rPr lang="ko-KR" altLang="en-US" dirty="0" err="1"/>
              <a:t>디렉티브</a:t>
            </a:r>
            <a:r>
              <a:rPr lang="ko-KR" altLang="en-US" dirty="0"/>
              <a:t> 태그</a:t>
            </a:r>
            <a:endParaRPr lang="en-US" altLang="ko-KR" dirty="0"/>
          </a:p>
          <a:p>
            <a:pPr lvl="1"/>
            <a:r>
              <a:rPr lang="ko-KR" altLang="en-US" dirty="0"/>
              <a:t>현재 </a:t>
            </a:r>
            <a:r>
              <a:rPr lang="en-US" altLang="ko-KR" dirty="0"/>
              <a:t>JSP </a:t>
            </a:r>
            <a:r>
              <a:rPr lang="ko-KR" altLang="en-US" dirty="0"/>
              <a:t>페이지의 특정 영역에 외부 파일의 내용을 포함하는 태그</a:t>
            </a:r>
            <a:endParaRPr lang="en-US" altLang="ko-KR" dirty="0"/>
          </a:p>
          <a:p>
            <a:pPr lvl="1"/>
            <a:r>
              <a:rPr lang="ko-KR" altLang="en-US" dirty="0"/>
              <a:t>현재 </a:t>
            </a:r>
            <a:r>
              <a:rPr lang="en-US" altLang="ko-KR" dirty="0"/>
              <a:t>JSP </a:t>
            </a:r>
            <a:r>
              <a:rPr lang="ko-KR" altLang="en-US" dirty="0"/>
              <a:t>페이지에 포함할 수 있는 외부 파일</a:t>
            </a:r>
            <a:endParaRPr lang="en-US" altLang="ko-KR" dirty="0"/>
          </a:p>
          <a:p>
            <a:pPr lvl="2"/>
            <a:r>
              <a:rPr lang="en-US" altLang="ko-KR" dirty="0"/>
              <a:t>HTML, JSP, </a:t>
            </a:r>
            <a:r>
              <a:rPr lang="ko-KR" altLang="en-US" dirty="0"/>
              <a:t>텍스트 파일</a:t>
            </a:r>
            <a:endParaRPr lang="en-US" altLang="ko-KR" dirty="0"/>
          </a:p>
          <a:p>
            <a:pPr lvl="1"/>
            <a:r>
              <a:rPr lang="en-US" altLang="ko-KR" dirty="0"/>
              <a:t>include </a:t>
            </a:r>
            <a:r>
              <a:rPr lang="ko-KR" altLang="en-US" dirty="0" err="1"/>
              <a:t>디렉티브</a:t>
            </a:r>
            <a:r>
              <a:rPr lang="ko-KR" altLang="en-US" dirty="0"/>
              <a:t> 태그는 </a:t>
            </a:r>
            <a:r>
              <a:rPr lang="en-US" altLang="ko-KR" dirty="0"/>
              <a:t>JSP </a:t>
            </a:r>
            <a:r>
              <a:rPr lang="ko-KR" altLang="en-US" dirty="0"/>
              <a:t>페이지 </a:t>
            </a:r>
            <a:r>
              <a:rPr lang="ko-KR" altLang="en-US" dirty="0" err="1"/>
              <a:t>어디에서든</a:t>
            </a:r>
            <a:r>
              <a:rPr lang="ko-KR" altLang="en-US" dirty="0"/>
              <a:t> 선언할 수 있음</a:t>
            </a:r>
            <a:endParaRPr lang="en-US" altLang="ko-KR" dirty="0"/>
          </a:p>
          <a:p>
            <a:endParaRPr lang="en-US" altLang="ko-KR" b="0" dirty="0"/>
          </a:p>
          <a:p>
            <a:endParaRPr lang="en-US" altLang="ko-KR" b="0" dirty="0"/>
          </a:p>
          <a:p>
            <a:pPr lvl="1"/>
            <a:endParaRPr lang="en-US" altLang="ko-KR" sz="1200" dirty="0"/>
          </a:p>
          <a:p>
            <a:pPr lvl="1"/>
            <a:r>
              <a:rPr lang="en-US" altLang="ko-KR" dirty="0"/>
              <a:t>file </a:t>
            </a:r>
            <a:r>
              <a:rPr lang="ko-KR" altLang="en-US" dirty="0"/>
              <a:t>속성 값 </a:t>
            </a:r>
            <a:endParaRPr lang="en-US" altLang="ko-KR" dirty="0"/>
          </a:p>
          <a:p>
            <a:pPr lvl="2"/>
            <a:r>
              <a:rPr lang="ko-KR" altLang="en-US" dirty="0"/>
              <a:t>현재 </a:t>
            </a:r>
            <a:r>
              <a:rPr lang="en-US" altLang="ko-KR" dirty="0"/>
              <a:t>JSP </a:t>
            </a:r>
            <a:r>
              <a:rPr lang="ko-KR" altLang="en-US" dirty="0"/>
              <a:t>페이지에 포함할 내용을 가진 외부 파일명</a:t>
            </a:r>
            <a:endParaRPr lang="en-US" altLang="ko-KR" dirty="0"/>
          </a:p>
          <a:p>
            <a:pPr lvl="2"/>
            <a:r>
              <a:rPr lang="ko-KR" altLang="en-US" dirty="0"/>
              <a:t>이때 외부 파일이 현재 </a:t>
            </a:r>
            <a:r>
              <a:rPr lang="en-US" altLang="ko-KR" dirty="0"/>
              <a:t>JSP </a:t>
            </a:r>
            <a:r>
              <a:rPr lang="ko-KR" altLang="en-US" dirty="0"/>
              <a:t>페이지와 같은 디렉터리에 있으면 파일명만 설정하고</a:t>
            </a:r>
            <a:r>
              <a:rPr lang="en-US" altLang="ko-KR" dirty="0"/>
              <a:t>, </a:t>
            </a:r>
          </a:p>
          <a:p>
            <a:pPr lvl="2"/>
            <a:r>
              <a:rPr lang="ko-KR" altLang="en-US" dirty="0"/>
              <a:t>그렇지 않으면 전체 </a:t>
            </a:r>
            <a:r>
              <a:rPr lang="en-US" altLang="ko-KR" dirty="0"/>
              <a:t>URL(</a:t>
            </a:r>
            <a:r>
              <a:rPr lang="ko-KR" altLang="en-US" dirty="0"/>
              <a:t>또는 상대 경로</a:t>
            </a:r>
            <a:r>
              <a:rPr lang="en-US" altLang="ko-KR" dirty="0"/>
              <a:t>)</a:t>
            </a:r>
            <a:r>
              <a:rPr lang="ko-KR" altLang="en-US" dirty="0"/>
              <a:t>을 설정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1A7F61-2686-E9E8-96FA-FC192A3BE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737" y="2843935"/>
            <a:ext cx="6604525" cy="52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986112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77017C-EA22-42F3-94F7-4D95145B3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include </a:t>
            </a:r>
            <a:r>
              <a:rPr lang="ko-KR" altLang="en-US" dirty="0" err="1"/>
              <a:t>디렉티브</a:t>
            </a:r>
            <a:r>
              <a:rPr lang="ko-KR" altLang="en-US" dirty="0"/>
              <a:t> 태그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include </a:t>
            </a:r>
            <a:r>
              <a:rPr lang="ko-KR" altLang="en-US" dirty="0" err="1"/>
              <a:t>디렉티브</a:t>
            </a:r>
            <a:r>
              <a:rPr lang="ko-KR" altLang="en-US" dirty="0"/>
              <a:t> 태그 사용 예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3267D2F-2833-A7AE-E0A5-692C688FE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802" y="1178750"/>
            <a:ext cx="6612396" cy="2030950"/>
          </a:xfrm>
          <a:prstGeom prst="rect">
            <a:avLst/>
          </a:prstGeom>
        </p:spPr>
      </p:pic>
      <p:pic>
        <p:nvPicPr>
          <p:cNvPr id="8" name="그림 7" descr="텍스트, 스크린샷, 도표, 폰트이(가) 표시된 사진&#10;&#10;자동 생성된 설명">
            <a:extLst>
              <a:ext uri="{FF2B5EF4-FFF2-40B4-BE49-F238E27FC236}">
                <a16:creationId xmlns:a16="http://schemas.microsoft.com/office/drawing/2014/main" id="{11CE98A7-1719-0976-70CB-11AE0960F0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37" y="3383995"/>
            <a:ext cx="5572125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316999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77017C-EA22-42F3-94F7-4D95145B3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include </a:t>
            </a:r>
            <a:r>
              <a:rPr lang="ko-KR" altLang="en-US" dirty="0" err="1"/>
              <a:t>디렉티브</a:t>
            </a:r>
            <a:r>
              <a:rPr lang="ko-KR" altLang="en-US" dirty="0"/>
              <a:t> 태그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include </a:t>
            </a:r>
            <a:r>
              <a:rPr lang="ko-KR" altLang="en-US" dirty="0" err="1"/>
              <a:t>디렉티브</a:t>
            </a:r>
            <a:r>
              <a:rPr lang="ko-KR" altLang="en-US" dirty="0"/>
              <a:t> 태그 사용 예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1CE98A7-1719-0976-70CB-11AE0960F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17183" y="1967625"/>
            <a:ext cx="5309633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486017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77017C-EA22-42F3-94F7-4D95145B3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include </a:t>
            </a:r>
            <a:r>
              <a:rPr lang="ko-KR" altLang="en-US" dirty="0" err="1"/>
              <a:t>디렉티브</a:t>
            </a:r>
            <a:r>
              <a:rPr lang="ko-KR" altLang="en-US" dirty="0"/>
              <a:t> 태그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3-9] include </a:t>
            </a:r>
            <a:r>
              <a:rPr lang="ko-KR" altLang="en-US" b="1" dirty="0" err="1">
                <a:solidFill>
                  <a:srgbClr val="0070C0"/>
                </a:solidFill>
              </a:rPr>
              <a:t>디렉티브</a:t>
            </a:r>
            <a:r>
              <a:rPr lang="ko-KR" altLang="en-US" b="1" dirty="0">
                <a:solidFill>
                  <a:srgbClr val="0070C0"/>
                </a:solidFill>
              </a:rPr>
              <a:t> 태그로 외부 파일의 내용 포함하기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FB461FC-F9C9-EB72-91DB-CA4100F0C52C}"/>
              </a:ext>
            </a:extLst>
          </p:cNvPr>
          <p:cNvGrpSpPr/>
          <p:nvPr/>
        </p:nvGrpSpPr>
        <p:grpSpPr>
          <a:xfrm>
            <a:off x="1304894" y="1103110"/>
            <a:ext cx="6534212" cy="5710940"/>
            <a:chOff x="1328545" y="1088740"/>
            <a:chExt cx="6534212" cy="571094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2EFDDAF-C8BB-0D81-EB8B-D1BAC4835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28545" y="1088740"/>
              <a:ext cx="6525805" cy="292834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A8EC103-5E69-4FB2-5A4E-E7CBB4E07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29080" y="4068130"/>
              <a:ext cx="6533677" cy="27315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2799640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77017C-EA22-42F3-94F7-4D95145B3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include </a:t>
            </a:r>
            <a:r>
              <a:rPr lang="ko-KR" altLang="en-US" dirty="0" err="1"/>
              <a:t>디렉티브</a:t>
            </a:r>
            <a:r>
              <a:rPr lang="ko-KR" altLang="en-US" dirty="0"/>
              <a:t> 태그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3-10] include </a:t>
            </a:r>
            <a:r>
              <a:rPr lang="ko-KR" altLang="en-US" b="1" dirty="0" err="1">
                <a:solidFill>
                  <a:srgbClr val="0070C0"/>
                </a:solidFill>
              </a:rPr>
              <a:t>디렉티브</a:t>
            </a:r>
            <a:r>
              <a:rPr lang="ko-KR" altLang="en-US" b="1" dirty="0">
                <a:solidFill>
                  <a:srgbClr val="0070C0"/>
                </a:solidFill>
              </a:rPr>
              <a:t> 태그로 머리글과 바닥글에 외부 파일 내용 포함하기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2ABDC7-2C10-B72D-398E-FE88CDD3A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969" y="1827067"/>
            <a:ext cx="6510062" cy="320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106910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77017C-EA22-42F3-94F7-4D95145B3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include </a:t>
            </a:r>
            <a:r>
              <a:rPr lang="ko-KR" altLang="en-US" dirty="0" err="1"/>
              <a:t>디렉티브</a:t>
            </a:r>
            <a:r>
              <a:rPr lang="ko-KR" altLang="en-US" dirty="0"/>
              <a:t> 태그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3-10] include </a:t>
            </a:r>
            <a:r>
              <a:rPr lang="ko-KR" altLang="en-US" b="1" dirty="0" err="1">
                <a:solidFill>
                  <a:srgbClr val="0070C0"/>
                </a:solidFill>
              </a:rPr>
              <a:t>디렉티브</a:t>
            </a:r>
            <a:r>
              <a:rPr lang="ko-KR" altLang="en-US" b="1" dirty="0">
                <a:solidFill>
                  <a:srgbClr val="0070C0"/>
                </a:solidFill>
              </a:rPr>
              <a:t> 태그로 머리글과 바닥글에 외부 파일 내용 포함하기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0F33D46-B00B-1D35-0454-D5CD5532816C}"/>
              </a:ext>
            </a:extLst>
          </p:cNvPr>
          <p:cNvGrpSpPr/>
          <p:nvPr/>
        </p:nvGrpSpPr>
        <p:grpSpPr>
          <a:xfrm>
            <a:off x="1316968" y="1538790"/>
            <a:ext cx="6522543" cy="4280127"/>
            <a:chOff x="1316968" y="1803452"/>
            <a:chExt cx="6522543" cy="428012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DB804AC-9251-110E-5891-4D917FD02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6968" y="1803452"/>
              <a:ext cx="6510062" cy="325109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DEB03D9-B642-E602-278D-A940132B9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7321" y="5343620"/>
              <a:ext cx="6502190" cy="7399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3755094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 err="1"/>
              <a:t>taglib</a:t>
            </a:r>
            <a:r>
              <a:rPr lang="en-US" altLang="ko-KR" dirty="0"/>
              <a:t> </a:t>
            </a:r>
            <a:r>
              <a:rPr lang="ko-KR" altLang="en-US" dirty="0" err="1"/>
              <a:t>디렉티브</a:t>
            </a:r>
            <a:r>
              <a:rPr lang="ko-KR" altLang="en-US" dirty="0"/>
              <a:t> 태그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04</a:t>
            </a:r>
          </a:p>
        </p:txBody>
      </p:sp>
    </p:spTree>
    <p:extLst>
      <p:ext uri="{BB962C8B-B14F-4D97-AF65-F5344CB8AC3E}">
        <p14:creationId xmlns:p14="http://schemas.microsoft.com/office/powerpoint/2010/main" val="884192559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A022F37-6347-47FD-858B-22F60B459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taglib</a:t>
            </a:r>
            <a:r>
              <a:rPr lang="en-US" altLang="ko-KR" dirty="0"/>
              <a:t> </a:t>
            </a:r>
            <a:r>
              <a:rPr lang="ko-KR" altLang="en-US" dirty="0" err="1"/>
              <a:t>디렉티브</a:t>
            </a:r>
            <a:r>
              <a:rPr lang="ko-KR" altLang="en-US" dirty="0"/>
              <a:t> 태그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taglib</a:t>
            </a:r>
            <a:r>
              <a:rPr lang="en-US" altLang="ko-KR" dirty="0"/>
              <a:t> </a:t>
            </a:r>
            <a:r>
              <a:rPr lang="ko-KR" altLang="en-US" dirty="0" err="1"/>
              <a:t>디렉티브</a:t>
            </a:r>
            <a:r>
              <a:rPr lang="ko-KR" altLang="en-US" dirty="0"/>
              <a:t> 태그</a:t>
            </a:r>
            <a:endParaRPr lang="en-US" altLang="ko-KR" dirty="0"/>
          </a:p>
          <a:p>
            <a:pPr lvl="1"/>
            <a:r>
              <a:rPr lang="ko-KR" altLang="en-US" dirty="0"/>
              <a:t>현재 </a:t>
            </a:r>
            <a:r>
              <a:rPr lang="en-US" altLang="ko-KR" dirty="0"/>
              <a:t>JSP </a:t>
            </a:r>
            <a:r>
              <a:rPr lang="ko-KR" altLang="en-US" dirty="0"/>
              <a:t>페이지에 표현 언어</a:t>
            </a:r>
            <a:r>
              <a:rPr lang="en-US" altLang="ko-KR" dirty="0"/>
              <a:t>, JSTL, </a:t>
            </a:r>
            <a:r>
              <a:rPr lang="ko-KR" altLang="en-US" dirty="0"/>
              <a:t>사용자 정의 태그</a:t>
            </a:r>
            <a:r>
              <a:rPr lang="en-US" altLang="ko-KR" dirty="0"/>
              <a:t>(custom tag) </a:t>
            </a:r>
            <a:r>
              <a:rPr lang="ko-KR" altLang="en-US" dirty="0"/>
              <a:t>등 태그 라이브러리를 설정하는 태그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 err="1"/>
              <a:t>taglib</a:t>
            </a:r>
            <a:r>
              <a:rPr lang="en-US" altLang="ko-KR" dirty="0"/>
              <a:t> </a:t>
            </a:r>
            <a:r>
              <a:rPr lang="ko-KR" altLang="en-US" dirty="0" err="1"/>
              <a:t>디렉티브</a:t>
            </a:r>
            <a:r>
              <a:rPr lang="ko-KR" altLang="en-US" dirty="0"/>
              <a:t> 태그 사용 예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CF5D88D-ABD3-7E58-24CF-78691F0CA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74" y="2006331"/>
            <a:ext cx="6596653" cy="52741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E081E93-07FE-253B-5579-F49FA6D91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66" y="3273312"/>
            <a:ext cx="6620268" cy="281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614847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A022F37-6347-47FD-858B-22F60B459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taglib</a:t>
            </a:r>
            <a:r>
              <a:rPr lang="en-US" altLang="ko-KR" dirty="0"/>
              <a:t> </a:t>
            </a:r>
            <a:r>
              <a:rPr lang="ko-KR" altLang="en-US" dirty="0" err="1"/>
              <a:t>디렉티브</a:t>
            </a:r>
            <a:r>
              <a:rPr lang="ko-KR" altLang="en-US" dirty="0"/>
              <a:t> 태그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3-11] </a:t>
            </a:r>
            <a:r>
              <a:rPr lang="en-US" altLang="ko-KR" b="1" dirty="0" err="1">
                <a:solidFill>
                  <a:srgbClr val="0070C0"/>
                </a:solidFill>
              </a:rPr>
              <a:t>taglib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태그에 </a:t>
            </a:r>
            <a:r>
              <a:rPr lang="en-US" altLang="ko-KR" b="1" dirty="0">
                <a:solidFill>
                  <a:srgbClr val="0070C0"/>
                </a:solidFill>
              </a:rPr>
              <a:t>JSTL</a:t>
            </a:r>
            <a:r>
              <a:rPr lang="ko-KR" altLang="en-US" b="1" dirty="0">
                <a:solidFill>
                  <a:srgbClr val="0070C0"/>
                </a:solidFill>
              </a:rPr>
              <a:t>의 </a:t>
            </a:r>
            <a:r>
              <a:rPr lang="en-US" altLang="ko-KR" b="1" dirty="0">
                <a:solidFill>
                  <a:srgbClr val="0070C0"/>
                </a:solidFill>
              </a:rPr>
              <a:t>Core </a:t>
            </a:r>
            <a:r>
              <a:rPr lang="ko-KR" altLang="en-US" b="1" dirty="0">
                <a:solidFill>
                  <a:srgbClr val="0070C0"/>
                </a:solidFill>
              </a:rPr>
              <a:t>태그를 설정하여 </a:t>
            </a:r>
            <a:r>
              <a:rPr lang="en-US" altLang="ko-KR" b="1" dirty="0">
                <a:solidFill>
                  <a:srgbClr val="0070C0"/>
                </a:solidFill>
              </a:rPr>
              <a:t>1</a:t>
            </a:r>
            <a:r>
              <a:rPr lang="ko-KR" altLang="en-US" b="1" dirty="0">
                <a:solidFill>
                  <a:srgbClr val="0070C0"/>
                </a:solidFill>
              </a:rPr>
              <a:t>부터 </a:t>
            </a:r>
            <a:r>
              <a:rPr lang="en-US" altLang="ko-KR" b="1" dirty="0">
                <a:solidFill>
                  <a:srgbClr val="0070C0"/>
                </a:solidFill>
              </a:rPr>
              <a:t>10</a:t>
            </a:r>
            <a:r>
              <a:rPr lang="ko-KR" altLang="en-US" b="1" dirty="0">
                <a:solidFill>
                  <a:srgbClr val="0070C0"/>
                </a:solidFill>
              </a:rPr>
              <a:t>까지 출력하기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1"/>
            <a:r>
              <a:rPr lang="en-US" altLang="ko-KR" dirty="0">
                <a:solidFill>
                  <a:schemeClr val="tx1"/>
                </a:solidFill>
              </a:rPr>
              <a:t>/WEB-INF/lib/ </a:t>
            </a:r>
            <a:r>
              <a:rPr lang="ko-KR" altLang="en-US" dirty="0">
                <a:solidFill>
                  <a:schemeClr val="tx1"/>
                </a:solidFill>
              </a:rPr>
              <a:t>폴더에 </a:t>
            </a:r>
            <a:r>
              <a:rPr lang="en-US" altLang="ko-KR" dirty="0">
                <a:solidFill>
                  <a:schemeClr val="tx1"/>
                </a:solidFill>
              </a:rPr>
              <a:t>JSTL </a:t>
            </a:r>
            <a:r>
              <a:rPr lang="ko-KR" altLang="en-US" dirty="0">
                <a:solidFill>
                  <a:schemeClr val="tx1"/>
                </a:solidFill>
              </a:rPr>
              <a:t>태그 라이브러리인 </a:t>
            </a:r>
            <a:r>
              <a:rPr lang="en-US" altLang="ko-KR" dirty="0">
                <a:solidFill>
                  <a:schemeClr val="tx1"/>
                </a:solidFill>
              </a:rPr>
              <a:t>JSTL-1.2.jar </a:t>
            </a:r>
            <a:r>
              <a:rPr lang="ko-KR" altLang="en-US" dirty="0">
                <a:solidFill>
                  <a:schemeClr val="tx1"/>
                </a:solidFill>
              </a:rPr>
              <a:t>파일 추가하기</a:t>
            </a:r>
          </a:p>
          <a:p>
            <a:pPr lvl="1"/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B61FD0A-DA3B-709A-761C-6386BF45B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033" y="2033208"/>
            <a:ext cx="6517934" cy="319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988829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1771591"/>
          </a:xfrm>
        </p:spPr>
        <p:txBody>
          <a:bodyPr>
            <a:normAutofit fontScale="92500"/>
          </a:bodyPr>
          <a:lstStyle/>
          <a:p>
            <a:pPr lvl="0">
              <a:defRPr/>
            </a:pPr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/>
              <a:t>한글 출력 및 페이지</a:t>
            </a:r>
          </a:p>
          <a:p>
            <a:pPr lvl="0">
              <a:defRPr/>
            </a:pPr>
            <a:r>
              <a:rPr lang="ko-KR" altLang="en-US" dirty="0" err="1"/>
              <a:t>모듈화하기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한글 출력 및 페이지 </a:t>
            </a:r>
            <a:r>
              <a:rPr lang="ko-KR" altLang="en-US" dirty="0" err="1">
                <a:solidFill>
                  <a:srgbClr val="0082C6"/>
                </a:solidFill>
              </a:rPr>
              <a:t>모듈화하기</a:t>
            </a:r>
            <a:endParaRPr lang="ko-KR" altLang="en-US" dirty="0">
              <a:solidFill>
                <a:srgbClr val="0082C6"/>
              </a:solidFill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프로젝트 로드맵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9A00592-8DC7-3737-ED7A-A4121F788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2506" y="1563106"/>
            <a:ext cx="6698987" cy="42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622965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한글 출력 및 페이지 </a:t>
            </a:r>
            <a:r>
              <a:rPr lang="ko-KR" altLang="en-US" dirty="0" err="1">
                <a:solidFill>
                  <a:srgbClr val="0082C6"/>
                </a:solidFill>
              </a:rPr>
              <a:t>모듈화하기</a:t>
            </a:r>
            <a:endParaRPr lang="ko-KR" altLang="en-US" dirty="0">
              <a:solidFill>
                <a:srgbClr val="0082C6"/>
              </a:solidFill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프로젝트 실행 결과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8FB9152-BCA3-3509-6D78-D9FBA2F78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5274" y="1583795"/>
            <a:ext cx="7053453" cy="314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969641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한글 출력 및 페이지 </a:t>
            </a:r>
            <a:r>
              <a:rPr lang="ko-KR" altLang="en-US" dirty="0" err="1">
                <a:solidFill>
                  <a:srgbClr val="0082C6"/>
                </a:solidFill>
              </a:rPr>
              <a:t>모듈화하기</a:t>
            </a:r>
            <a:endParaRPr lang="ko-KR" altLang="en-US" dirty="0">
              <a:solidFill>
                <a:srgbClr val="0082C6"/>
              </a:solidFill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3-12] </a:t>
            </a:r>
            <a:r>
              <a:rPr lang="ko-KR" altLang="en-US" b="1" dirty="0">
                <a:solidFill>
                  <a:srgbClr val="00A496"/>
                </a:solidFill>
              </a:rPr>
              <a:t>한글 및 현재 접속 시각 출력하기</a:t>
            </a:r>
            <a:endParaRPr lang="en-US" altLang="ko-KR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한글 출력하기</a:t>
            </a:r>
            <a:endParaRPr lang="en-US" altLang="ko-KR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현재 접속 시각 출력하기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B8C8BEB-5E49-FFD0-C0D7-9B4ADF9DE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161" y="1421506"/>
            <a:ext cx="6533677" cy="169245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69A0FAE-ED62-F7A6-0735-360B8CBE5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128" y="3829512"/>
            <a:ext cx="6502190" cy="216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01209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한글 출력 및 페이지 </a:t>
            </a:r>
            <a:r>
              <a:rPr lang="ko-KR" altLang="en-US" dirty="0" err="1">
                <a:solidFill>
                  <a:srgbClr val="0082C6"/>
                </a:solidFill>
              </a:rPr>
              <a:t>모듈화하기</a:t>
            </a:r>
            <a:endParaRPr lang="ko-KR" altLang="en-US" dirty="0">
              <a:solidFill>
                <a:srgbClr val="0082C6"/>
              </a:solidFill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3-12] </a:t>
            </a:r>
            <a:r>
              <a:rPr lang="ko-KR" altLang="en-US" b="1" dirty="0">
                <a:solidFill>
                  <a:srgbClr val="00A496"/>
                </a:solidFill>
              </a:rPr>
              <a:t>한글 및 현재 접속 시각 출력하기</a:t>
            </a:r>
            <a:endParaRPr lang="en-US" altLang="ko-KR" dirty="0">
              <a:solidFill>
                <a:schemeClr val="tx1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AB78899-6F3E-5305-1EF3-8AB57D8C5363}"/>
              </a:ext>
            </a:extLst>
          </p:cNvPr>
          <p:cNvGrpSpPr/>
          <p:nvPr/>
        </p:nvGrpSpPr>
        <p:grpSpPr>
          <a:xfrm>
            <a:off x="1297598" y="1313765"/>
            <a:ext cx="6541241" cy="4014430"/>
            <a:chOff x="1297598" y="1313765"/>
            <a:chExt cx="6541241" cy="401443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CAAD04C-60F9-488E-6A90-7FF35B9B9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5162" y="1313765"/>
              <a:ext cx="6533677" cy="177905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59A1107-4109-C153-D42E-45357A0B1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7598" y="3068960"/>
              <a:ext cx="6533677" cy="22592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23722532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한글 출력 및 페이지 </a:t>
            </a:r>
            <a:r>
              <a:rPr lang="ko-KR" altLang="en-US" dirty="0" err="1">
                <a:solidFill>
                  <a:srgbClr val="0082C6"/>
                </a:solidFill>
              </a:rPr>
              <a:t>모듈화하기</a:t>
            </a:r>
            <a:endParaRPr lang="ko-KR" altLang="en-US" dirty="0">
              <a:solidFill>
                <a:srgbClr val="0082C6"/>
              </a:solidFill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3-13] </a:t>
            </a:r>
            <a:r>
              <a:rPr lang="ko-KR" altLang="en-US" b="1" dirty="0">
                <a:solidFill>
                  <a:srgbClr val="00A496"/>
                </a:solidFill>
              </a:rPr>
              <a:t>웹 페이지 </a:t>
            </a:r>
            <a:r>
              <a:rPr lang="ko-KR" altLang="en-US" b="1" dirty="0" err="1">
                <a:solidFill>
                  <a:srgbClr val="00A496"/>
                </a:solidFill>
              </a:rPr>
              <a:t>모듈화하기</a:t>
            </a:r>
            <a:endParaRPr lang="en-US" altLang="ko-KR" b="1" dirty="0">
              <a:solidFill>
                <a:srgbClr val="00A496"/>
              </a:solidFill>
            </a:endParaRPr>
          </a:p>
          <a:p>
            <a:pPr lvl="1"/>
            <a:r>
              <a:rPr lang="ko-KR" altLang="en-US" dirty="0">
                <a:solidFill>
                  <a:schemeClr val="tx1"/>
                </a:solidFill>
              </a:rPr>
              <a:t>북마켓의 시작 페이지를 머리글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본문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바닥글로 구분하여 </a:t>
            </a:r>
            <a:r>
              <a:rPr lang="ko-KR" altLang="en-US" dirty="0" err="1">
                <a:solidFill>
                  <a:schemeClr val="tx1"/>
                </a:solidFill>
              </a:rPr>
              <a:t>모듈화하기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69C476B-714C-192E-5E61-D5E23D34D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95" y="2078850"/>
            <a:ext cx="7839075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01339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한글 출력 및 페이지 </a:t>
            </a:r>
            <a:r>
              <a:rPr lang="ko-KR" altLang="en-US" dirty="0" err="1">
                <a:solidFill>
                  <a:srgbClr val="0082C6"/>
                </a:solidFill>
              </a:rPr>
              <a:t>모듈화하기</a:t>
            </a:r>
            <a:endParaRPr lang="ko-KR" altLang="en-US" dirty="0">
              <a:solidFill>
                <a:srgbClr val="0082C6"/>
              </a:solidFill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3-13] </a:t>
            </a:r>
            <a:r>
              <a:rPr lang="ko-KR" altLang="en-US" b="1" dirty="0">
                <a:solidFill>
                  <a:srgbClr val="00A496"/>
                </a:solidFill>
              </a:rPr>
              <a:t>웹 페이지 </a:t>
            </a:r>
            <a:r>
              <a:rPr lang="ko-KR" altLang="en-US" b="1" dirty="0" err="1">
                <a:solidFill>
                  <a:srgbClr val="00A496"/>
                </a:solidFill>
              </a:rPr>
              <a:t>모듈화하기</a:t>
            </a:r>
            <a:endParaRPr lang="ko-KR" altLang="en-US" b="1" dirty="0">
              <a:solidFill>
                <a:srgbClr val="00A496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머리글 </a:t>
            </a:r>
            <a:r>
              <a:rPr lang="en-US" altLang="ko-KR" dirty="0">
                <a:solidFill>
                  <a:schemeClr val="tx1"/>
                </a:solidFill>
              </a:rPr>
              <a:t>JSP </a:t>
            </a:r>
            <a:r>
              <a:rPr lang="ko-KR" altLang="en-US" dirty="0">
                <a:solidFill>
                  <a:schemeClr val="tx1"/>
                </a:solidFill>
              </a:rPr>
              <a:t>페이지 작성하기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91A29AE-F6AE-ADFA-3081-C1C5DE8F0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162" y="1748945"/>
            <a:ext cx="6533677" cy="397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598587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한글 출력 및 페이지 </a:t>
            </a:r>
            <a:r>
              <a:rPr lang="ko-KR" altLang="en-US" dirty="0" err="1">
                <a:solidFill>
                  <a:srgbClr val="0082C6"/>
                </a:solidFill>
              </a:rPr>
              <a:t>모듈화하기</a:t>
            </a:r>
            <a:endParaRPr lang="ko-KR" altLang="en-US" dirty="0">
              <a:solidFill>
                <a:srgbClr val="0082C6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CD3388C-377D-3070-B7F8-3226FAED3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615" y="1326726"/>
            <a:ext cx="6549422" cy="1157169"/>
          </a:xfrm>
          <a:prstGeom prst="rect">
            <a:avLst/>
          </a:prstGeom>
        </p:spPr>
      </p:pic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3-13] </a:t>
            </a:r>
            <a:r>
              <a:rPr lang="ko-KR" altLang="en-US" b="1" dirty="0">
                <a:solidFill>
                  <a:srgbClr val="00A496"/>
                </a:solidFill>
              </a:rPr>
              <a:t>웹 페이지 </a:t>
            </a:r>
            <a:r>
              <a:rPr lang="ko-KR" altLang="en-US" b="1" dirty="0" err="1">
                <a:solidFill>
                  <a:srgbClr val="00A496"/>
                </a:solidFill>
              </a:rPr>
              <a:t>모듈화하기</a:t>
            </a:r>
            <a:endParaRPr lang="ko-KR" altLang="en-US" b="1" dirty="0">
              <a:solidFill>
                <a:srgbClr val="00A496"/>
              </a:solidFill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ko-KR" altLang="en-US" dirty="0">
                <a:solidFill>
                  <a:schemeClr val="tx1"/>
                </a:solidFill>
              </a:rPr>
              <a:t>바닥글 </a:t>
            </a:r>
            <a:r>
              <a:rPr lang="en-US" altLang="ko-KR" dirty="0">
                <a:solidFill>
                  <a:schemeClr val="tx1"/>
                </a:solidFill>
              </a:rPr>
              <a:t>JSP </a:t>
            </a:r>
            <a:r>
              <a:rPr lang="ko-KR" altLang="en-US" dirty="0">
                <a:solidFill>
                  <a:schemeClr val="tx1"/>
                </a:solidFill>
              </a:rPr>
              <a:t>페이지 작성하기</a:t>
            </a:r>
            <a:endParaRPr lang="en-US" altLang="ko-KR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 startAt="2"/>
            </a:pPr>
            <a:endParaRPr lang="en-US" altLang="ko-KR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 startAt="2"/>
            </a:pPr>
            <a:endParaRPr lang="en-US" altLang="ko-KR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 startAt="2"/>
            </a:pPr>
            <a:endParaRPr lang="en-US" altLang="ko-KR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 startAt="2"/>
            </a:pPr>
            <a:endParaRPr lang="en-US" altLang="ko-KR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en-US" altLang="ko-KR" dirty="0">
                <a:solidFill>
                  <a:schemeClr val="tx1"/>
                </a:solidFill>
              </a:rPr>
              <a:t>JSP </a:t>
            </a:r>
            <a:r>
              <a:rPr lang="ko-KR" altLang="en-US" dirty="0">
                <a:solidFill>
                  <a:schemeClr val="tx1"/>
                </a:solidFill>
              </a:rPr>
              <a:t>페이지 </a:t>
            </a:r>
            <a:r>
              <a:rPr lang="ko-KR" altLang="en-US" dirty="0" err="1">
                <a:solidFill>
                  <a:schemeClr val="tx1"/>
                </a:solidFill>
              </a:rPr>
              <a:t>모듈화하기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9FFA420-2377-847C-5A67-96E81FCE4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668" y="3023955"/>
            <a:ext cx="6517934" cy="314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098067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41454"/>
      </p:ext>
    </p:extLst>
  </p:cSld>
  <p:clrMapOvr>
    <a:masterClrMapping/>
  </p:clrMapOvr>
</p:sld>
</file>

<file path=ppt/theme/theme1.xml><?xml version="1.0" encoding="utf-8"?>
<a:theme xmlns:a="http://schemas.openxmlformats.org/drawingml/2006/main" name="ch01_JAVA 들여다보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1358</Words>
  <Application>Microsoft Office PowerPoint</Application>
  <PresentationFormat>화면 슬라이드 쇼(4:3)</PresentationFormat>
  <Paragraphs>218</Paragraphs>
  <Slides>51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58" baseType="lpstr">
      <vt:lpstr>HY견고딕</vt:lpstr>
      <vt:lpstr>맑은 고딕</vt:lpstr>
      <vt:lpstr>한컴바탕</vt:lpstr>
      <vt:lpstr>Arial</vt:lpstr>
      <vt:lpstr>Arial Black</vt:lpstr>
      <vt:lpstr>Wingdings</vt:lpstr>
      <vt:lpstr>ch01_JAVA 들여다보기</vt:lpstr>
      <vt:lpstr>PowerPoint 프레젠테이션</vt:lpstr>
      <vt:lpstr>PowerPoint 프레젠테이션</vt:lpstr>
      <vt:lpstr>PowerPoint 프레젠테이션</vt:lpstr>
      <vt:lpstr>PowerPoint 프레젠테이션</vt:lpstr>
      <vt:lpstr>1. 디렉티브 태그의 개요</vt:lpstr>
      <vt:lpstr>PowerPoint 프레젠테이션</vt:lpstr>
      <vt:lpstr>1. page 디렉티브 태그</vt:lpstr>
      <vt:lpstr>1. page 디렉티브 태그</vt:lpstr>
      <vt:lpstr>2. language 속성</vt:lpstr>
      <vt:lpstr>3. contentType 속성</vt:lpstr>
      <vt:lpstr>3. contentType 속성</vt:lpstr>
      <vt:lpstr>3. contentType 속성</vt:lpstr>
      <vt:lpstr>4. pageEncoding 속성</vt:lpstr>
      <vt:lpstr>5. import 속성</vt:lpstr>
      <vt:lpstr>5. import 속성</vt:lpstr>
      <vt:lpstr>6. session 속성</vt:lpstr>
      <vt:lpstr>7. buffer 속성</vt:lpstr>
      <vt:lpstr>7. buffer 속성</vt:lpstr>
      <vt:lpstr>8. autoFlush 속성</vt:lpstr>
      <vt:lpstr>9. isThreadSafe 속성</vt:lpstr>
      <vt:lpstr>10. info 속성 </vt:lpstr>
      <vt:lpstr>10. info 속성 </vt:lpstr>
      <vt:lpstr>11. errorPage 속성</vt:lpstr>
      <vt:lpstr>11. errorPage 속성</vt:lpstr>
      <vt:lpstr>11. errorPage 속성</vt:lpstr>
      <vt:lpstr>12. isErrorPage 속성</vt:lpstr>
      <vt:lpstr>12. isErrorPage 속성</vt:lpstr>
      <vt:lpstr>12. isErrorPage 속성</vt:lpstr>
      <vt:lpstr>13. isELIgnored 속성</vt:lpstr>
      <vt:lpstr>13. isELIgnored 속성</vt:lpstr>
      <vt:lpstr>13. isELIgnored 속성</vt:lpstr>
      <vt:lpstr>14. isScriptingEnabled 속성</vt:lpstr>
      <vt:lpstr>PowerPoint 프레젠테이션</vt:lpstr>
      <vt:lpstr>1. include 디렉티브 태그</vt:lpstr>
      <vt:lpstr>1. include 디렉티브 태그</vt:lpstr>
      <vt:lpstr>1. include 디렉티브 태그</vt:lpstr>
      <vt:lpstr>1. include 디렉티브 태그</vt:lpstr>
      <vt:lpstr>1. include 디렉티브 태그</vt:lpstr>
      <vt:lpstr>1. include 디렉티브 태그</vt:lpstr>
      <vt:lpstr>PowerPoint 프레젠테이션</vt:lpstr>
      <vt:lpstr>1. taglib 디렉티브 태그</vt:lpstr>
      <vt:lpstr>1. taglib 디렉티브 태그</vt:lpstr>
      <vt:lpstr>PowerPoint 프레젠테이션</vt:lpstr>
      <vt:lpstr>[북마켓] 한글 출력 및 페이지 모듈화하기</vt:lpstr>
      <vt:lpstr>[북마켓] 한글 출력 및 페이지 모듈화하기</vt:lpstr>
      <vt:lpstr>[북마켓] 한글 출력 및 페이지 모듈화하기</vt:lpstr>
      <vt:lpstr>[북마켓] 한글 출력 및 페이지 모듈화하기</vt:lpstr>
      <vt:lpstr>[북마켓] 한글 출력 및 페이지 모듈화하기</vt:lpstr>
      <vt:lpstr>[북마켓] 한글 출력 및 페이지 모듈화하기</vt:lpstr>
      <vt:lpstr>[북마켓] 한글 출력 및 페이지 모듈화하기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1장. 유닉스 개요 및 기본 사용법</dc:title>
  <dc:creator>한빛아카데미(주)</dc:creator>
  <cp:lastModifiedBy>tj</cp:lastModifiedBy>
  <cp:revision>1216</cp:revision>
  <dcterms:created xsi:type="dcterms:W3CDTF">2012-07-23T02:34:37Z</dcterms:created>
  <dcterms:modified xsi:type="dcterms:W3CDTF">2025-04-28T00:38:13Z</dcterms:modified>
  <cp:version>1000.0000.01</cp:version>
</cp:coreProperties>
</file>